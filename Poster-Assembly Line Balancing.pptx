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19799300" cy="25199975"/>
  <p:notesSz cx="6858000" cy="9144000"/>
  <p:defaultTextStyle>
    <a:defPPr>
      <a:defRPr lang="tr-TR"/>
    </a:defPPr>
    <a:lvl1pPr marL="0" algn="l" defTabSz="1836664" rtl="0" eaLnBrk="1" latinLnBrk="0" hangingPunct="1">
      <a:defRPr sz="3615" kern="1200">
        <a:solidFill>
          <a:schemeClr val="tx1"/>
        </a:solidFill>
        <a:latin typeface="+mn-lt"/>
        <a:ea typeface="+mn-ea"/>
        <a:cs typeface="+mn-cs"/>
      </a:defRPr>
    </a:lvl1pPr>
    <a:lvl2pPr marL="918332" algn="l" defTabSz="1836664" rtl="0" eaLnBrk="1" latinLnBrk="0" hangingPunct="1">
      <a:defRPr sz="3615" kern="1200">
        <a:solidFill>
          <a:schemeClr val="tx1"/>
        </a:solidFill>
        <a:latin typeface="+mn-lt"/>
        <a:ea typeface="+mn-ea"/>
        <a:cs typeface="+mn-cs"/>
      </a:defRPr>
    </a:lvl2pPr>
    <a:lvl3pPr marL="1836664" algn="l" defTabSz="1836664" rtl="0" eaLnBrk="1" latinLnBrk="0" hangingPunct="1">
      <a:defRPr sz="3615" kern="1200">
        <a:solidFill>
          <a:schemeClr val="tx1"/>
        </a:solidFill>
        <a:latin typeface="+mn-lt"/>
        <a:ea typeface="+mn-ea"/>
        <a:cs typeface="+mn-cs"/>
      </a:defRPr>
    </a:lvl3pPr>
    <a:lvl4pPr marL="2754996" algn="l" defTabSz="1836664" rtl="0" eaLnBrk="1" latinLnBrk="0" hangingPunct="1">
      <a:defRPr sz="3615" kern="1200">
        <a:solidFill>
          <a:schemeClr val="tx1"/>
        </a:solidFill>
        <a:latin typeface="+mn-lt"/>
        <a:ea typeface="+mn-ea"/>
        <a:cs typeface="+mn-cs"/>
      </a:defRPr>
    </a:lvl4pPr>
    <a:lvl5pPr marL="3673328" algn="l" defTabSz="1836664" rtl="0" eaLnBrk="1" latinLnBrk="0" hangingPunct="1">
      <a:defRPr sz="3615" kern="1200">
        <a:solidFill>
          <a:schemeClr val="tx1"/>
        </a:solidFill>
        <a:latin typeface="+mn-lt"/>
        <a:ea typeface="+mn-ea"/>
        <a:cs typeface="+mn-cs"/>
      </a:defRPr>
    </a:lvl5pPr>
    <a:lvl6pPr marL="4591660" algn="l" defTabSz="1836664" rtl="0" eaLnBrk="1" latinLnBrk="0" hangingPunct="1">
      <a:defRPr sz="3615" kern="1200">
        <a:solidFill>
          <a:schemeClr val="tx1"/>
        </a:solidFill>
        <a:latin typeface="+mn-lt"/>
        <a:ea typeface="+mn-ea"/>
        <a:cs typeface="+mn-cs"/>
      </a:defRPr>
    </a:lvl6pPr>
    <a:lvl7pPr marL="5509992" algn="l" defTabSz="1836664" rtl="0" eaLnBrk="1" latinLnBrk="0" hangingPunct="1">
      <a:defRPr sz="3615" kern="1200">
        <a:solidFill>
          <a:schemeClr val="tx1"/>
        </a:solidFill>
        <a:latin typeface="+mn-lt"/>
        <a:ea typeface="+mn-ea"/>
        <a:cs typeface="+mn-cs"/>
      </a:defRPr>
    </a:lvl7pPr>
    <a:lvl8pPr marL="6428323" algn="l" defTabSz="1836664" rtl="0" eaLnBrk="1" latinLnBrk="0" hangingPunct="1">
      <a:defRPr sz="3615" kern="1200">
        <a:solidFill>
          <a:schemeClr val="tx1"/>
        </a:solidFill>
        <a:latin typeface="+mn-lt"/>
        <a:ea typeface="+mn-ea"/>
        <a:cs typeface="+mn-cs"/>
      </a:defRPr>
    </a:lvl8pPr>
    <a:lvl9pPr marL="7346655" algn="l" defTabSz="1836664" rtl="0" eaLnBrk="1" latinLnBrk="0" hangingPunct="1">
      <a:defRPr sz="361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264" y="-47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AAE0F3-8EC1-42FC-92EF-FA977635659E}" type="doc">
      <dgm:prSet loTypeId="urn:microsoft.com/office/officeart/2005/8/layout/vProcess5" loCatId="process" qsTypeId="urn:microsoft.com/office/officeart/2005/8/quickstyle/simple2" qsCatId="simple" csTypeId="urn:microsoft.com/office/officeart/2005/8/colors/accent5_5" csCatId="accent5" phldr="1"/>
      <dgm:spPr/>
      <dgm:t>
        <a:bodyPr/>
        <a:lstStyle/>
        <a:p>
          <a:endParaRPr lang="tr-TR"/>
        </a:p>
      </dgm:t>
    </dgm:pt>
    <dgm:pt modelId="{F363CE74-91B4-4343-8645-D8B43D64CD44}">
      <dgm:prSet phldrT="[Metin]"/>
      <dgm:spPr/>
      <dgm:t>
        <a:bodyPr/>
        <a:lstStyle/>
        <a:p>
          <a:r>
            <a:rPr lang="tr-TR" dirty="0"/>
            <a:t>Value Stream Mapping</a:t>
          </a:r>
        </a:p>
      </dgm:t>
    </dgm:pt>
    <dgm:pt modelId="{1B041583-19EA-47B6-8FE5-19320B1A2FB3}" type="parTrans" cxnId="{841490EC-DA27-4AB5-A3DE-A92917AFA7A5}">
      <dgm:prSet/>
      <dgm:spPr/>
      <dgm:t>
        <a:bodyPr/>
        <a:lstStyle/>
        <a:p>
          <a:endParaRPr lang="tr-TR"/>
        </a:p>
      </dgm:t>
    </dgm:pt>
    <dgm:pt modelId="{B59EE17B-5B13-4F1A-BEAF-E66750E32543}" type="sibTrans" cxnId="{841490EC-DA27-4AB5-A3DE-A92917AFA7A5}">
      <dgm:prSet/>
      <dgm:spPr/>
      <dgm:t>
        <a:bodyPr/>
        <a:lstStyle/>
        <a:p>
          <a:endParaRPr lang="tr-TR"/>
        </a:p>
      </dgm:t>
    </dgm:pt>
    <dgm:pt modelId="{6B5A1C0F-5731-4557-AD1D-67215B06BB66}">
      <dgm:prSet phldrT="[Metin]"/>
      <dgm:spPr/>
      <dgm:t>
        <a:bodyPr/>
        <a:lstStyle/>
        <a:p>
          <a:r>
            <a:rPr lang="tr-TR"/>
            <a:t>Precedence Diagram</a:t>
          </a:r>
        </a:p>
      </dgm:t>
    </dgm:pt>
    <dgm:pt modelId="{99F8EF67-E6B3-4CCB-B2A2-13BFFE4FDFB6}" type="parTrans" cxnId="{86D52548-4FF4-4EB1-A82B-D97AB0CA71E1}">
      <dgm:prSet/>
      <dgm:spPr/>
      <dgm:t>
        <a:bodyPr/>
        <a:lstStyle/>
        <a:p>
          <a:endParaRPr lang="tr-TR"/>
        </a:p>
      </dgm:t>
    </dgm:pt>
    <dgm:pt modelId="{E9F771EE-948F-4A85-828F-E61752F5CF0F}" type="sibTrans" cxnId="{86D52548-4FF4-4EB1-A82B-D97AB0CA71E1}">
      <dgm:prSet/>
      <dgm:spPr/>
      <dgm:t>
        <a:bodyPr/>
        <a:lstStyle/>
        <a:p>
          <a:endParaRPr lang="tr-TR"/>
        </a:p>
      </dgm:t>
    </dgm:pt>
    <dgm:pt modelId="{4B292984-90BE-4D56-A50C-ECBBC4056EB3}">
      <dgm:prSet phldrT="[Metin]"/>
      <dgm:spPr/>
      <dgm:t>
        <a:bodyPr/>
        <a:lstStyle/>
        <a:p>
          <a:r>
            <a:rPr lang="tr-TR"/>
            <a:t>Linear Mixed Integer Programming</a:t>
          </a:r>
        </a:p>
      </dgm:t>
    </dgm:pt>
    <dgm:pt modelId="{8675AD01-FF58-4B6C-835C-C98708A35B0A}" type="parTrans" cxnId="{4A13F250-D3B7-405E-A62E-05EAC4BAF2D0}">
      <dgm:prSet/>
      <dgm:spPr/>
      <dgm:t>
        <a:bodyPr/>
        <a:lstStyle/>
        <a:p>
          <a:endParaRPr lang="tr-TR"/>
        </a:p>
      </dgm:t>
    </dgm:pt>
    <dgm:pt modelId="{E09156C1-6F25-45D3-94AB-C3BE8EB277C3}" type="sibTrans" cxnId="{4A13F250-D3B7-405E-A62E-05EAC4BAF2D0}">
      <dgm:prSet/>
      <dgm:spPr/>
      <dgm:t>
        <a:bodyPr/>
        <a:lstStyle/>
        <a:p>
          <a:endParaRPr lang="tr-TR"/>
        </a:p>
      </dgm:t>
    </dgm:pt>
    <dgm:pt modelId="{517BFD18-FB00-40C1-B8A3-A9E394DBBA60}">
      <dgm:prSet/>
      <dgm:spPr/>
      <dgm:t>
        <a:bodyPr/>
        <a:lstStyle/>
        <a:p>
          <a:r>
            <a:rPr lang="tr-TR" dirty="0"/>
            <a:t>Non-Linear Mixed Integer Programming</a:t>
          </a:r>
        </a:p>
      </dgm:t>
    </dgm:pt>
    <dgm:pt modelId="{55036F97-95D2-4355-B728-22CEAC418773}" type="parTrans" cxnId="{16C5DDCB-A670-4A97-B363-4E7FE8AB76D4}">
      <dgm:prSet/>
      <dgm:spPr/>
      <dgm:t>
        <a:bodyPr/>
        <a:lstStyle/>
        <a:p>
          <a:endParaRPr lang="tr-TR"/>
        </a:p>
      </dgm:t>
    </dgm:pt>
    <dgm:pt modelId="{B9B8A08D-02EA-4921-8369-252D2ADED502}" type="sibTrans" cxnId="{16C5DDCB-A670-4A97-B363-4E7FE8AB76D4}">
      <dgm:prSet/>
      <dgm:spPr/>
      <dgm:t>
        <a:bodyPr/>
        <a:lstStyle/>
        <a:p>
          <a:endParaRPr lang="tr-TR"/>
        </a:p>
      </dgm:t>
    </dgm:pt>
    <dgm:pt modelId="{4D7FF82C-54D7-4236-8528-C4A6E498BE40}" type="pres">
      <dgm:prSet presAssocID="{A2AAE0F3-8EC1-42FC-92EF-FA977635659E}" presName="outerComposite" presStyleCnt="0">
        <dgm:presLayoutVars>
          <dgm:chMax val="5"/>
          <dgm:dir/>
          <dgm:resizeHandles val="exact"/>
        </dgm:presLayoutVars>
      </dgm:prSet>
      <dgm:spPr/>
    </dgm:pt>
    <dgm:pt modelId="{D3BE1AF6-7E19-408C-BA33-09ABE395A605}" type="pres">
      <dgm:prSet presAssocID="{A2AAE0F3-8EC1-42FC-92EF-FA977635659E}" presName="dummyMaxCanvas" presStyleCnt="0">
        <dgm:presLayoutVars/>
      </dgm:prSet>
      <dgm:spPr/>
    </dgm:pt>
    <dgm:pt modelId="{C27E7BE7-0DB4-4628-ADAD-34AE7B3A3392}" type="pres">
      <dgm:prSet presAssocID="{A2AAE0F3-8EC1-42FC-92EF-FA977635659E}" presName="FourNodes_1" presStyleLbl="node1" presStyleIdx="0" presStyleCnt="4" custLinFactNeighborX="-3818" custLinFactNeighborY="-6665">
        <dgm:presLayoutVars>
          <dgm:bulletEnabled val="1"/>
        </dgm:presLayoutVars>
      </dgm:prSet>
      <dgm:spPr/>
    </dgm:pt>
    <dgm:pt modelId="{3DFFF2D9-602A-4941-822F-49DBC61510E3}" type="pres">
      <dgm:prSet presAssocID="{A2AAE0F3-8EC1-42FC-92EF-FA977635659E}" presName="FourNodes_2" presStyleLbl="node1" presStyleIdx="1" presStyleCnt="4">
        <dgm:presLayoutVars>
          <dgm:bulletEnabled val="1"/>
        </dgm:presLayoutVars>
      </dgm:prSet>
      <dgm:spPr/>
    </dgm:pt>
    <dgm:pt modelId="{7E20388A-162A-4287-91BF-2647A511444A}" type="pres">
      <dgm:prSet presAssocID="{A2AAE0F3-8EC1-42FC-92EF-FA977635659E}" presName="FourNodes_3" presStyleLbl="node1" presStyleIdx="2" presStyleCnt="4">
        <dgm:presLayoutVars>
          <dgm:bulletEnabled val="1"/>
        </dgm:presLayoutVars>
      </dgm:prSet>
      <dgm:spPr/>
    </dgm:pt>
    <dgm:pt modelId="{40667138-7EF7-42B1-86E2-F84CD2836B8E}" type="pres">
      <dgm:prSet presAssocID="{A2AAE0F3-8EC1-42FC-92EF-FA977635659E}" presName="FourNodes_4" presStyleLbl="node1" presStyleIdx="3" presStyleCnt="4">
        <dgm:presLayoutVars>
          <dgm:bulletEnabled val="1"/>
        </dgm:presLayoutVars>
      </dgm:prSet>
      <dgm:spPr/>
    </dgm:pt>
    <dgm:pt modelId="{5D31C2C4-C59E-4C05-A13C-D3D8739AA749}" type="pres">
      <dgm:prSet presAssocID="{A2AAE0F3-8EC1-42FC-92EF-FA977635659E}" presName="FourConn_1-2" presStyleLbl="fgAccFollowNode1" presStyleIdx="0" presStyleCnt="3">
        <dgm:presLayoutVars>
          <dgm:bulletEnabled val="1"/>
        </dgm:presLayoutVars>
      </dgm:prSet>
      <dgm:spPr/>
    </dgm:pt>
    <dgm:pt modelId="{922AD8F8-CEEB-43C1-B9D1-6406CE328600}" type="pres">
      <dgm:prSet presAssocID="{A2AAE0F3-8EC1-42FC-92EF-FA977635659E}" presName="FourConn_2-3" presStyleLbl="fgAccFollowNode1" presStyleIdx="1" presStyleCnt="3">
        <dgm:presLayoutVars>
          <dgm:bulletEnabled val="1"/>
        </dgm:presLayoutVars>
      </dgm:prSet>
      <dgm:spPr/>
    </dgm:pt>
    <dgm:pt modelId="{A9016C60-7D00-4442-A248-575BD54D3693}" type="pres">
      <dgm:prSet presAssocID="{A2AAE0F3-8EC1-42FC-92EF-FA977635659E}" presName="FourConn_3-4" presStyleLbl="fgAccFollowNode1" presStyleIdx="2" presStyleCnt="3">
        <dgm:presLayoutVars>
          <dgm:bulletEnabled val="1"/>
        </dgm:presLayoutVars>
      </dgm:prSet>
      <dgm:spPr/>
    </dgm:pt>
    <dgm:pt modelId="{4432DADD-4C0B-4918-B6CE-3584B723449D}" type="pres">
      <dgm:prSet presAssocID="{A2AAE0F3-8EC1-42FC-92EF-FA977635659E}" presName="FourNodes_1_text" presStyleLbl="node1" presStyleIdx="3" presStyleCnt="4">
        <dgm:presLayoutVars>
          <dgm:bulletEnabled val="1"/>
        </dgm:presLayoutVars>
      </dgm:prSet>
      <dgm:spPr/>
    </dgm:pt>
    <dgm:pt modelId="{28A4837D-7E3A-4755-B087-F506237FF528}" type="pres">
      <dgm:prSet presAssocID="{A2AAE0F3-8EC1-42FC-92EF-FA977635659E}" presName="FourNodes_2_text" presStyleLbl="node1" presStyleIdx="3" presStyleCnt="4">
        <dgm:presLayoutVars>
          <dgm:bulletEnabled val="1"/>
        </dgm:presLayoutVars>
      </dgm:prSet>
      <dgm:spPr/>
    </dgm:pt>
    <dgm:pt modelId="{E31BC44E-C48F-4919-8693-282E77CFD8FC}" type="pres">
      <dgm:prSet presAssocID="{A2AAE0F3-8EC1-42FC-92EF-FA977635659E}" presName="FourNodes_3_text" presStyleLbl="node1" presStyleIdx="3" presStyleCnt="4">
        <dgm:presLayoutVars>
          <dgm:bulletEnabled val="1"/>
        </dgm:presLayoutVars>
      </dgm:prSet>
      <dgm:spPr/>
    </dgm:pt>
    <dgm:pt modelId="{FEF85B6C-01AB-4D3C-A6DE-1DE1D256379B}" type="pres">
      <dgm:prSet presAssocID="{A2AAE0F3-8EC1-42FC-92EF-FA977635659E}" presName="FourNodes_4_text" presStyleLbl="node1" presStyleIdx="3" presStyleCnt="4">
        <dgm:presLayoutVars>
          <dgm:bulletEnabled val="1"/>
        </dgm:presLayoutVars>
      </dgm:prSet>
      <dgm:spPr/>
    </dgm:pt>
  </dgm:ptLst>
  <dgm:cxnLst>
    <dgm:cxn modelId="{F13A4202-87EF-49B1-A92B-F540963A3621}" type="presOf" srcId="{E9F771EE-948F-4A85-828F-E61752F5CF0F}" destId="{922AD8F8-CEEB-43C1-B9D1-6406CE328600}" srcOrd="0" destOrd="0" presId="urn:microsoft.com/office/officeart/2005/8/layout/vProcess5"/>
    <dgm:cxn modelId="{DD3DEB1B-1DE6-4826-8193-3350F7BC13BC}" type="presOf" srcId="{F363CE74-91B4-4343-8645-D8B43D64CD44}" destId="{4432DADD-4C0B-4918-B6CE-3584B723449D}" srcOrd="1" destOrd="0" presId="urn:microsoft.com/office/officeart/2005/8/layout/vProcess5"/>
    <dgm:cxn modelId="{9CBFFC22-9495-412A-A907-03F3CF47AE00}" type="presOf" srcId="{6B5A1C0F-5731-4557-AD1D-67215B06BB66}" destId="{28A4837D-7E3A-4755-B087-F506237FF528}" srcOrd="1" destOrd="0" presId="urn:microsoft.com/office/officeart/2005/8/layout/vProcess5"/>
    <dgm:cxn modelId="{9CBD3B25-A9C1-4355-A0E6-4E55E6D21A2B}" type="presOf" srcId="{517BFD18-FB00-40C1-B8A3-A9E394DBBA60}" destId="{FEF85B6C-01AB-4D3C-A6DE-1DE1D256379B}" srcOrd="1" destOrd="0" presId="urn:microsoft.com/office/officeart/2005/8/layout/vProcess5"/>
    <dgm:cxn modelId="{1E7EE32D-3883-47D6-B091-D760F9047A09}" type="presOf" srcId="{4B292984-90BE-4D56-A50C-ECBBC4056EB3}" destId="{7E20388A-162A-4287-91BF-2647A511444A}" srcOrd="0" destOrd="0" presId="urn:microsoft.com/office/officeart/2005/8/layout/vProcess5"/>
    <dgm:cxn modelId="{6E6EA833-2608-41D4-A7FC-D00A3602FD6F}" type="presOf" srcId="{A2AAE0F3-8EC1-42FC-92EF-FA977635659E}" destId="{4D7FF82C-54D7-4236-8528-C4A6E498BE40}" srcOrd="0" destOrd="0" presId="urn:microsoft.com/office/officeart/2005/8/layout/vProcess5"/>
    <dgm:cxn modelId="{DE201946-D0CA-484A-A748-4B09C8C3B1FF}" type="presOf" srcId="{F363CE74-91B4-4343-8645-D8B43D64CD44}" destId="{C27E7BE7-0DB4-4628-ADAD-34AE7B3A3392}" srcOrd="0" destOrd="0" presId="urn:microsoft.com/office/officeart/2005/8/layout/vProcess5"/>
    <dgm:cxn modelId="{86D52548-4FF4-4EB1-A82B-D97AB0CA71E1}" srcId="{A2AAE0F3-8EC1-42FC-92EF-FA977635659E}" destId="{6B5A1C0F-5731-4557-AD1D-67215B06BB66}" srcOrd="1" destOrd="0" parTransId="{99F8EF67-E6B3-4CCB-B2A2-13BFFE4FDFB6}" sibTransId="{E9F771EE-948F-4A85-828F-E61752F5CF0F}"/>
    <dgm:cxn modelId="{4A13F250-D3B7-405E-A62E-05EAC4BAF2D0}" srcId="{A2AAE0F3-8EC1-42FC-92EF-FA977635659E}" destId="{4B292984-90BE-4D56-A50C-ECBBC4056EB3}" srcOrd="2" destOrd="0" parTransId="{8675AD01-FF58-4B6C-835C-C98708A35B0A}" sibTransId="{E09156C1-6F25-45D3-94AB-C3BE8EB277C3}"/>
    <dgm:cxn modelId="{59687955-08C1-4255-AA7E-ABC98CEFFE60}" type="presOf" srcId="{517BFD18-FB00-40C1-B8A3-A9E394DBBA60}" destId="{40667138-7EF7-42B1-86E2-F84CD2836B8E}" srcOrd="0" destOrd="0" presId="urn:microsoft.com/office/officeart/2005/8/layout/vProcess5"/>
    <dgm:cxn modelId="{DA17E4BC-0610-4144-888A-1D06C6AFEBB9}" type="presOf" srcId="{6B5A1C0F-5731-4557-AD1D-67215B06BB66}" destId="{3DFFF2D9-602A-4941-822F-49DBC61510E3}" srcOrd="0" destOrd="0" presId="urn:microsoft.com/office/officeart/2005/8/layout/vProcess5"/>
    <dgm:cxn modelId="{326069C0-0522-4822-B7E8-F81D22DFABC0}" type="presOf" srcId="{E09156C1-6F25-45D3-94AB-C3BE8EB277C3}" destId="{A9016C60-7D00-4442-A248-575BD54D3693}" srcOrd="0" destOrd="0" presId="urn:microsoft.com/office/officeart/2005/8/layout/vProcess5"/>
    <dgm:cxn modelId="{7CA788C0-A929-4A62-ABF0-07F269824248}" type="presOf" srcId="{4B292984-90BE-4D56-A50C-ECBBC4056EB3}" destId="{E31BC44E-C48F-4919-8693-282E77CFD8FC}" srcOrd="1" destOrd="0" presId="urn:microsoft.com/office/officeart/2005/8/layout/vProcess5"/>
    <dgm:cxn modelId="{61226CC8-5E8E-44AB-A6F0-1A71A1C144A9}" type="presOf" srcId="{B59EE17B-5B13-4F1A-BEAF-E66750E32543}" destId="{5D31C2C4-C59E-4C05-A13C-D3D8739AA749}" srcOrd="0" destOrd="0" presId="urn:microsoft.com/office/officeart/2005/8/layout/vProcess5"/>
    <dgm:cxn modelId="{16C5DDCB-A670-4A97-B363-4E7FE8AB76D4}" srcId="{A2AAE0F3-8EC1-42FC-92EF-FA977635659E}" destId="{517BFD18-FB00-40C1-B8A3-A9E394DBBA60}" srcOrd="3" destOrd="0" parTransId="{55036F97-95D2-4355-B728-22CEAC418773}" sibTransId="{B9B8A08D-02EA-4921-8369-252D2ADED502}"/>
    <dgm:cxn modelId="{841490EC-DA27-4AB5-A3DE-A92917AFA7A5}" srcId="{A2AAE0F3-8EC1-42FC-92EF-FA977635659E}" destId="{F363CE74-91B4-4343-8645-D8B43D64CD44}" srcOrd="0" destOrd="0" parTransId="{1B041583-19EA-47B6-8FE5-19320B1A2FB3}" sibTransId="{B59EE17B-5B13-4F1A-BEAF-E66750E32543}"/>
    <dgm:cxn modelId="{80D4C6D3-3DE3-447E-9F37-ADAD83F90C6D}" type="presParOf" srcId="{4D7FF82C-54D7-4236-8528-C4A6E498BE40}" destId="{D3BE1AF6-7E19-408C-BA33-09ABE395A605}" srcOrd="0" destOrd="0" presId="urn:microsoft.com/office/officeart/2005/8/layout/vProcess5"/>
    <dgm:cxn modelId="{3DAA9846-19E8-46D3-9D7E-82AFCDAA2258}" type="presParOf" srcId="{4D7FF82C-54D7-4236-8528-C4A6E498BE40}" destId="{C27E7BE7-0DB4-4628-ADAD-34AE7B3A3392}" srcOrd="1" destOrd="0" presId="urn:microsoft.com/office/officeart/2005/8/layout/vProcess5"/>
    <dgm:cxn modelId="{AD71A537-F771-4ABC-95E2-E1E33B6C7AFC}" type="presParOf" srcId="{4D7FF82C-54D7-4236-8528-C4A6E498BE40}" destId="{3DFFF2D9-602A-4941-822F-49DBC61510E3}" srcOrd="2" destOrd="0" presId="urn:microsoft.com/office/officeart/2005/8/layout/vProcess5"/>
    <dgm:cxn modelId="{AC7EBEEA-C85D-43CC-BB13-5D00BC758B11}" type="presParOf" srcId="{4D7FF82C-54D7-4236-8528-C4A6E498BE40}" destId="{7E20388A-162A-4287-91BF-2647A511444A}" srcOrd="3" destOrd="0" presId="urn:microsoft.com/office/officeart/2005/8/layout/vProcess5"/>
    <dgm:cxn modelId="{D9C70D59-A65B-4976-BB0B-59DE44F8F8CC}" type="presParOf" srcId="{4D7FF82C-54D7-4236-8528-C4A6E498BE40}" destId="{40667138-7EF7-42B1-86E2-F84CD2836B8E}" srcOrd="4" destOrd="0" presId="urn:microsoft.com/office/officeart/2005/8/layout/vProcess5"/>
    <dgm:cxn modelId="{8CC47185-A79C-49F0-8659-5DDCF090ED22}" type="presParOf" srcId="{4D7FF82C-54D7-4236-8528-C4A6E498BE40}" destId="{5D31C2C4-C59E-4C05-A13C-D3D8739AA749}" srcOrd="5" destOrd="0" presId="urn:microsoft.com/office/officeart/2005/8/layout/vProcess5"/>
    <dgm:cxn modelId="{049AE615-3B88-4CB8-8344-E7348B54EC6B}" type="presParOf" srcId="{4D7FF82C-54D7-4236-8528-C4A6E498BE40}" destId="{922AD8F8-CEEB-43C1-B9D1-6406CE328600}" srcOrd="6" destOrd="0" presId="urn:microsoft.com/office/officeart/2005/8/layout/vProcess5"/>
    <dgm:cxn modelId="{A0BAED66-1ECC-461C-AF55-F9F41C10D25D}" type="presParOf" srcId="{4D7FF82C-54D7-4236-8528-C4A6E498BE40}" destId="{A9016C60-7D00-4442-A248-575BD54D3693}" srcOrd="7" destOrd="0" presId="urn:microsoft.com/office/officeart/2005/8/layout/vProcess5"/>
    <dgm:cxn modelId="{EF55C1D6-C17F-40B9-A44F-5C1567BE500F}" type="presParOf" srcId="{4D7FF82C-54D7-4236-8528-C4A6E498BE40}" destId="{4432DADD-4C0B-4918-B6CE-3584B723449D}" srcOrd="8" destOrd="0" presId="urn:microsoft.com/office/officeart/2005/8/layout/vProcess5"/>
    <dgm:cxn modelId="{74322C6B-3B9B-4D24-BE92-5447BC6A7D03}" type="presParOf" srcId="{4D7FF82C-54D7-4236-8528-C4A6E498BE40}" destId="{28A4837D-7E3A-4755-B087-F506237FF528}" srcOrd="9" destOrd="0" presId="urn:microsoft.com/office/officeart/2005/8/layout/vProcess5"/>
    <dgm:cxn modelId="{3CF9A038-A2E0-411F-AA92-270A149EE8E2}" type="presParOf" srcId="{4D7FF82C-54D7-4236-8528-C4A6E498BE40}" destId="{E31BC44E-C48F-4919-8693-282E77CFD8FC}" srcOrd="10" destOrd="0" presId="urn:microsoft.com/office/officeart/2005/8/layout/vProcess5"/>
    <dgm:cxn modelId="{D7F44301-D128-4654-818A-9BEA5CA420BA}" type="presParOf" srcId="{4D7FF82C-54D7-4236-8528-C4A6E498BE40}" destId="{FEF85B6C-01AB-4D3C-A6DE-1DE1D256379B}"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E7BE7-0DB4-4628-ADAD-34AE7B3A3392}">
      <dsp:nvSpPr>
        <dsp:cNvPr id="0" name=""/>
        <dsp:cNvSpPr/>
      </dsp:nvSpPr>
      <dsp:spPr>
        <a:xfrm>
          <a:off x="0" y="0"/>
          <a:ext cx="5791258" cy="1090430"/>
        </a:xfrm>
        <a:prstGeom prst="roundRect">
          <a:avLst>
            <a:gd name="adj" fmla="val 10000"/>
          </a:avLst>
        </a:prstGeom>
        <a:solidFill>
          <a:schemeClr val="accent5">
            <a:alpha val="9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tr-TR" sz="2800" kern="1200" dirty="0"/>
            <a:t>Value Stream Mapping</a:t>
          </a:r>
        </a:p>
      </dsp:txBody>
      <dsp:txXfrm>
        <a:off x="31938" y="31938"/>
        <a:ext cx="4522456" cy="1026554"/>
      </dsp:txXfrm>
    </dsp:sp>
    <dsp:sp modelId="{3DFFF2D9-602A-4941-822F-49DBC61510E3}">
      <dsp:nvSpPr>
        <dsp:cNvPr id="0" name=""/>
        <dsp:cNvSpPr/>
      </dsp:nvSpPr>
      <dsp:spPr>
        <a:xfrm>
          <a:off x="485017" y="1288690"/>
          <a:ext cx="5791258" cy="1090430"/>
        </a:xfrm>
        <a:prstGeom prst="roundRect">
          <a:avLst>
            <a:gd name="adj" fmla="val 10000"/>
          </a:avLst>
        </a:prstGeom>
        <a:solidFill>
          <a:schemeClr val="accent5">
            <a:alpha val="90000"/>
            <a:hueOff val="0"/>
            <a:satOff val="0"/>
            <a:lumOff val="0"/>
            <a:alphaOff val="-13333"/>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tr-TR" sz="2800" kern="1200"/>
            <a:t>Precedence Diagram</a:t>
          </a:r>
        </a:p>
      </dsp:txBody>
      <dsp:txXfrm>
        <a:off x="516955" y="1320628"/>
        <a:ext cx="4533584" cy="1026554"/>
      </dsp:txXfrm>
    </dsp:sp>
    <dsp:sp modelId="{7E20388A-162A-4287-91BF-2647A511444A}">
      <dsp:nvSpPr>
        <dsp:cNvPr id="0" name=""/>
        <dsp:cNvSpPr/>
      </dsp:nvSpPr>
      <dsp:spPr>
        <a:xfrm>
          <a:off x="962796" y="2577381"/>
          <a:ext cx="5791258" cy="1090430"/>
        </a:xfrm>
        <a:prstGeom prst="roundRect">
          <a:avLst>
            <a:gd name="adj" fmla="val 10000"/>
          </a:avLst>
        </a:prstGeom>
        <a:solidFill>
          <a:schemeClr val="accent5">
            <a:alpha val="90000"/>
            <a:hueOff val="0"/>
            <a:satOff val="0"/>
            <a:lumOff val="0"/>
            <a:alphaOff val="-26667"/>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tr-TR" sz="2800" kern="1200"/>
            <a:t>Linear Mixed Integer Programming</a:t>
          </a:r>
        </a:p>
      </dsp:txBody>
      <dsp:txXfrm>
        <a:off x="994734" y="2609319"/>
        <a:ext cx="4540823" cy="1026554"/>
      </dsp:txXfrm>
    </dsp:sp>
    <dsp:sp modelId="{40667138-7EF7-42B1-86E2-F84CD2836B8E}">
      <dsp:nvSpPr>
        <dsp:cNvPr id="0" name=""/>
        <dsp:cNvSpPr/>
      </dsp:nvSpPr>
      <dsp:spPr>
        <a:xfrm>
          <a:off x="1447814" y="3866071"/>
          <a:ext cx="5791258" cy="1090430"/>
        </a:xfrm>
        <a:prstGeom prst="roundRect">
          <a:avLst>
            <a:gd name="adj" fmla="val 10000"/>
          </a:avLst>
        </a:prstGeom>
        <a:solidFill>
          <a:schemeClr val="accent5">
            <a:alpha val="90000"/>
            <a:hueOff val="0"/>
            <a:satOff val="0"/>
            <a:lumOff val="0"/>
            <a:alpha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tr-TR" sz="2800" kern="1200" dirty="0"/>
            <a:t>Non-Linear Mixed Integer Programming</a:t>
          </a:r>
        </a:p>
      </dsp:txBody>
      <dsp:txXfrm>
        <a:off x="1479752" y="3898009"/>
        <a:ext cx="4533584" cy="1026554"/>
      </dsp:txXfrm>
    </dsp:sp>
    <dsp:sp modelId="{5D31C2C4-C59E-4C05-A13C-D3D8739AA749}">
      <dsp:nvSpPr>
        <dsp:cNvPr id="0" name=""/>
        <dsp:cNvSpPr/>
      </dsp:nvSpPr>
      <dsp:spPr>
        <a:xfrm>
          <a:off x="5082478" y="835170"/>
          <a:ext cx="708779" cy="708779"/>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tr-TR" sz="3200" kern="1200"/>
        </a:p>
      </dsp:txBody>
      <dsp:txXfrm>
        <a:off x="5241953" y="835170"/>
        <a:ext cx="389829" cy="533356"/>
      </dsp:txXfrm>
    </dsp:sp>
    <dsp:sp modelId="{922AD8F8-CEEB-43C1-B9D1-6406CE328600}">
      <dsp:nvSpPr>
        <dsp:cNvPr id="0" name=""/>
        <dsp:cNvSpPr/>
      </dsp:nvSpPr>
      <dsp:spPr>
        <a:xfrm>
          <a:off x="5567496" y="2123861"/>
          <a:ext cx="708779" cy="708779"/>
        </a:xfrm>
        <a:prstGeom prst="downArrow">
          <a:avLst>
            <a:gd name="adj1" fmla="val 55000"/>
            <a:gd name="adj2" fmla="val 45000"/>
          </a:avLst>
        </a:prstGeom>
        <a:solidFill>
          <a:schemeClr val="accent5">
            <a:alpha val="90000"/>
            <a:tint val="40000"/>
            <a:hueOff val="0"/>
            <a:satOff val="0"/>
            <a:lumOff val="0"/>
            <a:alphaOff val="-2000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tr-TR" sz="3200" kern="1200"/>
        </a:p>
      </dsp:txBody>
      <dsp:txXfrm>
        <a:off x="5726971" y="2123861"/>
        <a:ext cx="389829" cy="533356"/>
      </dsp:txXfrm>
    </dsp:sp>
    <dsp:sp modelId="{A9016C60-7D00-4442-A248-575BD54D3693}">
      <dsp:nvSpPr>
        <dsp:cNvPr id="0" name=""/>
        <dsp:cNvSpPr/>
      </dsp:nvSpPr>
      <dsp:spPr>
        <a:xfrm>
          <a:off x="6045275" y="3412551"/>
          <a:ext cx="708779" cy="708779"/>
        </a:xfrm>
        <a:prstGeom prst="downArrow">
          <a:avLst>
            <a:gd name="adj1" fmla="val 55000"/>
            <a:gd name="adj2" fmla="val 45000"/>
          </a:avLst>
        </a:prstGeom>
        <a:solidFill>
          <a:schemeClr val="accent5">
            <a:alpha val="90000"/>
            <a:tint val="40000"/>
            <a:hueOff val="0"/>
            <a:satOff val="0"/>
            <a:lumOff val="0"/>
            <a:alphaOff val="-4000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tr-TR" sz="3200" kern="1200"/>
        </a:p>
      </dsp:txBody>
      <dsp:txXfrm>
        <a:off x="6204750" y="3412551"/>
        <a:ext cx="389829" cy="53335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55A4BF-B381-486A-A5BD-A72C7DB13DB6}" type="datetimeFigureOut">
              <a:rPr lang="en-US" smtClean="0"/>
              <a:t>6/24/2020</a:t>
            </a:fld>
            <a:endParaRPr lang="en-US"/>
          </a:p>
        </p:txBody>
      </p:sp>
      <p:sp>
        <p:nvSpPr>
          <p:cNvPr id="4" name="Slide Image Placeholder 3"/>
          <p:cNvSpPr>
            <a:spLocks noGrp="1" noRot="1" noChangeAspect="1"/>
          </p:cNvSpPr>
          <p:nvPr>
            <p:ph type="sldImg" idx="2"/>
          </p:nvPr>
        </p:nvSpPr>
        <p:spPr>
          <a:xfrm>
            <a:off x="2216150" y="1143000"/>
            <a:ext cx="2425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26F64C-2239-4703-A4C8-946121A82321}" type="slidenum">
              <a:rPr lang="en-US" smtClean="0"/>
              <a:t>‹#›</a:t>
            </a:fld>
            <a:endParaRPr lang="en-US"/>
          </a:p>
        </p:txBody>
      </p:sp>
    </p:spTree>
    <p:extLst>
      <p:ext uri="{BB962C8B-B14F-4D97-AF65-F5344CB8AC3E}">
        <p14:creationId xmlns:p14="http://schemas.microsoft.com/office/powerpoint/2010/main" val="410003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484948" y="4124164"/>
            <a:ext cx="16829405" cy="8773325"/>
          </a:xfrm>
        </p:spPr>
        <p:txBody>
          <a:bodyPr anchor="b"/>
          <a:lstStyle>
            <a:lvl1pPr algn="ctr">
              <a:defRPr sz="12992"/>
            </a:lvl1pPr>
          </a:lstStyle>
          <a:p>
            <a:r>
              <a:rPr lang="tr-TR"/>
              <a:t>Asıl başlık stili için tıklatın</a:t>
            </a:r>
            <a:endParaRPr lang="en-US" dirty="0"/>
          </a:p>
        </p:txBody>
      </p:sp>
      <p:sp>
        <p:nvSpPr>
          <p:cNvPr id="3" name="Subtitle 2"/>
          <p:cNvSpPr>
            <a:spLocks noGrp="1"/>
          </p:cNvSpPr>
          <p:nvPr>
            <p:ph type="subTitle" idx="1"/>
          </p:nvPr>
        </p:nvSpPr>
        <p:spPr>
          <a:xfrm>
            <a:off x="2474913" y="13235822"/>
            <a:ext cx="14849475" cy="6084159"/>
          </a:xfrm>
        </p:spPr>
        <p:txBody>
          <a:bodyPr/>
          <a:lstStyle>
            <a:lvl1pPr marL="0" indent="0" algn="ctr">
              <a:buNone/>
              <a:defRPr sz="5197"/>
            </a:lvl1pPr>
            <a:lvl2pPr marL="989975" indent="0" algn="ctr">
              <a:buNone/>
              <a:defRPr sz="4331"/>
            </a:lvl2pPr>
            <a:lvl3pPr marL="1979950" indent="0" algn="ctr">
              <a:buNone/>
              <a:defRPr sz="3898"/>
            </a:lvl3pPr>
            <a:lvl4pPr marL="2969925" indent="0" algn="ctr">
              <a:buNone/>
              <a:defRPr sz="3464"/>
            </a:lvl4pPr>
            <a:lvl5pPr marL="3959901" indent="0" algn="ctr">
              <a:buNone/>
              <a:defRPr sz="3464"/>
            </a:lvl5pPr>
            <a:lvl6pPr marL="4949876" indent="0" algn="ctr">
              <a:buNone/>
              <a:defRPr sz="3464"/>
            </a:lvl6pPr>
            <a:lvl7pPr marL="5939851" indent="0" algn="ctr">
              <a:buNone/>
              <a:defRPr sz="3464"/>
            </a:lvl7pPr>
            <a:lvl8pPr marL="6929826" indent="0" algn="ctr">
              <a:buNone/>
              <a:defRPr sz="3464"/>
            </a:lvl8pPr>
            <a:lvl9pPr marL="7919801" indent="0" algn="ctr">
              <a:buNone/>
              <a:defRPr sz="3464"/>
            </a:lvl9pPr>
          </a:lstStyle>
          <a:p>
            <a:r>
              <a:rPr lang="tr-TR"/>
              <a:t>Asıl alt başlık stilini düzenlemek için tıklatın</a:t>
            </a:r>
            <a:endParaRPr lang="en-US" dirty="0"/>
          </a:p>
        </p:txBody>
      </p:sp>
      <p:sp>
        <p:nvSpPr>
          <p:cNvPr id="4" name="Date Placeholder 3"/>
          <p:cNvSpPr>
            <a:spLocks noGrp="1"/>
          </p:cNvSpPr>
          <p:nvPr>
            <p:ph type="dt" sz="half" idx="10"/>
          </p:nvPr>
        </p:nvSpPr>
        <p:spPr/>
        <p:txBody>
          <a:bodyPr/>
          <a:lstStyle/>
          <a:p>
            <a:fld id="{EBD01ED4-12BF-42E6-B109-7A35A33F51C3}" type="datetimeFigureOut">
              <a:rPr lang="tr-TR" smtClean="0"/>
              <a:t>24.06.2020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69410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BD01ED4-12BF-42E6-B109-7A35A33F51C3}" type="datetimeFigureOut">
              <a:rPr lang="tr-TR" smtClean="0"/>
              <a:t>24.06.2020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229090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1350891" y="6282501"/>
            <a:ext cx="17076896" cy="10482488"/>
          </a:xfrm>
        </p:spPr>
        <p:txBody>
          <a:bodyPr anchor="b"/>
          <a:lstStyle>
            <a:lvl1pPr>
              <a:defRPr sz="12992"/>
            </a:lvl1pPr>
          </a:lstStyle>
          <a:p>
            <a:r>
              <a:rPr lang="tr-TR"/>
              <a:t>Asıl başlık stili için tıklatın</a:t>
            </a:r>
            <a:endParaRPr lang="en-US" dirty="0"/>
          </a:p>
        </p:txBody>
      </p:sp>
      <p:sp>
        <p:nvSpPr>
          <p:cNvPr id="3" name="Text Placeholder 2"/>
          <p:cNvSpPr>
            <a:spLocks noGrp="1"/>
          </p:cNvSpPr>
          <p:nvPr>
            <p:ph type="body" idx="1"/>
          </p:nvPr>
        </p:nvSpPr>
        <p:spPr>
          <a:xfrm>
            <a:off x="1350891" y="16864157"/>
            <a:ext cx="17076896" cy="5512493"/>
          </a:xfrm>
        </p:spPr>
        <p:txBody>
          <a:bodyPr/>
          <a:lstStyle>
            <a:lvl1pPr marL="0" indent="0">
              <a:buNone/>
              <a:defRPr sz="5197">
                <a:solidFill>
                  <a:schemeClr val="tx1"/>
                </a:solidFill>
              </a:defRPr>
            </a:lvl1pPr>
            <a:lvl2pPr marL="989975" indent="0">
              <a:buNone/>
              <a:defRPr sz="4331">
                <a:solidFill>
                  <a:schemeClr val="tx1">
                    <a:tint val="75000"/>
                  </a:schemeClr>
                </a:solidFill>
              </a:defRPr>
            </a:lvl2pPr>
            <a:lvl3pPr marL="1979950" indent="0">
              <a:buNone/>
              <a:defRPr sz="3898">
                <a:solidFill>
                  <a:schemeClr val="tx1">
                    <a:tint val="75000"/>
                  </a:schemeClr>
                </a:solidFill>
              </a:defRPr>
            </a:lvl3pPr>
            <a:lvl4pPr marL="2969925" indent="0">
              <a:buNone/>
              <a:defRPr sz="3464">
                <a:solidFill>
                  <a:schemeClr val="tx1">
                    <a:tint val="75000"/>
                  </a:schemeClr>
                </a:solidFill>
              </a:defRPr>
            </a:lvl4pPr>
            <a:lvl5pPr marL="3959901" indent="0">
              <a:buNone/>
              <a:defRPr sz="3464">
                <a:solidFill>
                  <a:schemeClr val="tx1">
                    <a:tint val="75000"/>
                  </a:schemeClr>
                </a:solidFill>
              </a:defRPr>
            </a:lvl5pPr>
            <a:lvl6pPr marL="4949876" indent="0">
              <a:buNone/>
              <a:defRPr sz="3464">
                <a:solidFill>
                  <a:schemeClr val="tx1">
                    <a:tint val="75000"/>
                  </a:schemeClr>
                </a:solidFill>
              </a:defRPr>
            </a:lvl6pPr>
            <a:lvl7pPr marL="5939851" indent="0">
              <a:buNone/>
              <a:defRPr sz="3464">
                <a:solidFill>
                  <a:schemeClr val="tx1">
                    <a:tint val="75000"/>
                  </a:schemeClr>
                </a:solidFill>
              </a:defRPr>
            </a:lvl7pPr>
            <a:lvl8pPr marL="6929826" indent="0">
              <a:buNone/>
              <a:defRPr sz="3464">
                <a:solidFill>
                  <a:schemeClr val="tx1">
                    <a:tint val="75000"/>
                  </a:schemeClr>
                </a:solidFill>
              </a:defRPr>
            </a:lvl8pPr>
            <a:lvl9pPr marL="7919801" indent="0">
              <a:buNone/>
              <a:defRPr sz="3464">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EBD01ED4-12BF-42E6-B109-7A35A33F51C3}" type="datetimeFigureOut">
              <a:rPr lang="tr-TR" smtClean="0"/>
              <a:t>24.06.2020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2889420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1361202" y="6708326"/>
            <a:ext cx="8414703" cy="15989153"/>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10023395" y="6708326"/>
            <a:ext cx="8414703" cy="15989153"/>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EBD01ED4-12BF-42E6-B109-7A35A33F51C3}" type="datetimeFigureOut">
              <a:rPr lang="tr-TR" smtClean="0"/>
              <a:t>24.06.2020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416771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63781" y="1341671"/>
            <a:ext cx="17076896" cy="4870830"/>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1363783" y="6177496"/>
            <a:ext cx="8376031" cy="3027495"/>
          </a:xfrm>
        </p:spPr>
        <p:txBody>
          <a:bodyPr anchor="b"/>
          <a:lstStyle>
            <a:lvl1pPr marL="0" indent="0">
              <a:buNone/>
              <a:defRPr sz="5197" b="1"/>
            </a:lvl1pPr>
            <a:lvl2pPr marL="989975" indent="0">
              <a:buNone/>
              <a:defRPr sz="4331" b="1"/>
            </a:lvl2pPr>
            <a:lvl3pPr marL="1979950" indent="0">
              <a:buNone/>
              <a:defRPr sz="3898" b="1"/>
            </a:lvl3pPr>
            <a:lvl4pPr marL="2969925" indent="0">
              <a:buNone/>
              <a:defRPr sz="3464" b="1"/>
            </a:lvl4pPr>
            <a:lvl5pPr marL="3959901" indent="0">
              <a:buNone/>
              <a:defRPr sz="3464" b="1"/>
            </a:lvl5pPr>
            <a:lvl6pPr marL="4949876" indent="0">
              <a:buNone/>
              <a:defRPr sz="3464" b="1"/>
            </a:lvl6pPr>
            <a:lvl7pPr marL="5939851" indent="0">
              <a:buNone/>
              <a:defRPr sz="3464" b="1"/>
            </a:lvl7pPr>
            <a:lvl8pPr marL="6929826" indent="0">
              <a:buNone/>
              <a:defRPr sz="3464" b="1"/>
            </a:lvl8pPr>
            <a:lvl9pPr marL="7919801" indent="0">
              <a:buNone/>
              <a:defRPr sz="3464" b="1"/>
            </a:lvl9pPr>
          </a:lstStyle>
          <a:p>
            <a:pPr lvl="0"/>
            <a:r>
              <a:rPr lang="tr-TR"/>
              <a:t>Asıl metin stillerini düzenlemek için tıklatın</a:t>
            </a:r>
          </a:p>
        </p:txBody>
      </p:sp>
      <p:sp>
        <p:nvSpPr>
          <p:cNvPr id="4" name="Content Placeholder 3"/>
          <p:cNvSpPr>
            <a:spLocks noGrp="1"/>
          </p:cNvSpPr>
          <p:nvPr>
            <p:ph sz="half" idx="2"/>
          </p:nvPr>
        </p:nvSpPr>
        <p:spPr>
          <a:xfrm>
            <a:off x="1363783" y="9204991"/>
            <a:ext cx="8376031" cy="1353915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10023397" y="6177496"/>
            <a:ext cx="8417281" cy="3027495"/>
          </a:xfrm>
        </p:spPr>
        <p:txBody>
          <a:bodyPr anchor="b"/>
          <a:lstStyle>
            <a:lvl1pPr marL="0" indent="0">
              <a:buNone/>
              <a:defRPr sz="5197" b="1"/>
            </a:lvl1pPr>
            <a:lvl2pPr marL="989975" indent="0">
              <a:buNone/>
              <a:defRPr sz="4331" b="1"/>
            </a:lvl2pPr>
            <a:lvl3pPr marL="1979950" indent="0">
              <a:buNone/>
              <a:defRPr sz="3898" b="1"/>
            </a:lvl3pPr>
            <a:lvl4pPr marL="2969925" indent="0">
              <a:buNone/>
              <a:defRPr sz="3464" b="1"/>
            </a:lvl4pPr>
            <a:lvl5pPr marL="3959901" indent="0">
              <a:buNone/>
              <a:defRPr sz="3464" b="1"/>
            </a:lvl5pPr>
            <a:lvl6pPr marL="4949876" indent="0">
              <a:buNone/>
              <a:defRPr sz="3464" b="1"/>
            </a:lvl6pPr>
            <a:lvl7pPr marL="5939851" indent="0">
              <a:buNone/>
              <a:defRPr sz="3464" b="1"/>
            </a:lvl7pPr>
            <a:lvl8pPr marL="6929826" indent="0">
              <a:buNone/>
              <a:defRPr sz="3464" b="1"/>
            </a:lvl8pPr>
            <a:lvl9pPr marL="7919801" indent="0">
              <a:buNone/>
              <a:defRPr sz="3464" b="1"/>
            </a:lvl9pPr>
          </a:lstStyle>
          <a:p>
            <a:pPr lvl="0"/>
            <a:r>
              <a:rPr lang="tr-TR"/>
              <a:t>Asıl metin stillerini düzenlemek için tıklatın</a:t>
            </a:r>
          </a:p>
        </p:txBody>
      </p:sp>
      <p:sp>
        <p:nvSpPr>
          <p:cNvPr id="6" name="Content Placeholder 5"/>
          <p:cNvSpPr>
            <a:spLocks noGrp="1"/>
          </p:cNvSpPr>
          <p:nvPr>
            <p:ph sz="quarter" idx="4"/>
          </p:nvPr>
        </p:nvSpPr>
        <p:spPr>
          <a:xfrm>
            <a:off x="10023397" y="9204991"/>
            <a:ext cx="8417281" cy="1353915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BD01ED4-12BF-42E6-B109-7A35A33F51C3}" type="datetimeFigureOut">
              <a:rPr lang="tr-TR" smtClean="0"/>
              <a:t>24.06.2020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483450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EBD01ED4-12BF-42E6-B109-7A35A33F51C3}" type="datetimeFigureOut">
              <a:rPr lang="tr-TR" smtClean="0"/>
              <a:t>24.06.2020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662278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D01ED4-12BF-42E6-B109-7A35A33F51C3}" type="datetimeFigureOut">
              <a:rPr lang="tr-TR" smtClean="0"/>
              <a:t>24.06.2020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413990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363781" y="1679998"/>
            <a:ext cx="6385790" cy="5879994"/>
          </a:xfrm>
        </p:spPr>
        <p:txBody>
          <a:bodyPr anchor="b"/>
          <a:lstStyle>
            <a:lvl1pPr>
              <a:defRPr sz="6929"/>
            </a:lvl1pPr>
          </a:lstStyle>
          <a:p>
            <a:r>
              <a:rPr lang="tr-TR"/>
              <a:t>Asıl başlık stili için tıklatın</a:t>
            </a:r>
            <a:endParaRPr lang="en-US" dirty="0"/>
          </a:p>
        </p:txBody>
      </p:sp>
      <p:sp>
        <p:nvSpPr>
          <p:cNvPr id="3" name="Content Placeholder 2"/>
          <p:cNvSpPr>
            <a:spLocks noGrp="1"/>
          </p:cNvSpPr>
          <p:nvPr>
            <p:ph idx="1"/>
          </p:nvPr>
        </p:nvSpPr>
        <p:spPr>
          <a:xfrm>
            <a:off x="8417281" y="3628335"/>
            <a:ext cx="10023396" cy="17908316"/>
          </a:xfrm>
        </p:spPr>
        <p:txBody>
          <a:bodyPr/>
          <a:lstStyle>
            <a:lvl1pPr>
              <a:defRPr sz="6929"/>
            </a:lvl1pPr>
            <a:lvl2pPr>
              <a:defRPr sz="6063"/>
            </a:lvl2pPr>
            <a:lvl3pPr>
              <a:defRPr sz="5197"/>
            </a:lvl3pPr>
            <a:lvl4pPr>
              <a:defRPr sz="4331"/>
            </a:lvl4pPr>
            <a:lvl5pPr>
              <a:defRPr sz="4331"/>
            </a:lvl5pPr>
            <a:lvl6pPr>
              <a:defRPr sz="4331"/>
            </a:lvl6pPr>
            <a:lvl7pPr>
              <a:defRPr sz="4331"/>
            </a:lvl7pPr>
            <a:lvl8pPr>
              <a:defRPr sz="4331"/>
            </a:lvl8pPr>
            <a:lvl9pPr>
              <a:defRPr sz="4331"/>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363781" y="7559993"/>
            <a:ext cx="6385790" cy="14005821"/>
          </a:xfrm>
        </p:spPr>
        <p:txBody>
          <a:bodyPr/>
          <a:lstStyle>
            <a:lvl1pPr marL="0" indent="0">
              <a:buNone/>
              <a:defRPr sz="3464"/>
            </a:lvl1pPr>
            <a:lvl2pPr marL="989975" indent="0">
              <a:buNone/>
              <a:defRPr sz="3031"/>
            </a:lvl2pPr>
            <a:lvl3pPr marL="1979950" indent="0">
              <a:buNone/>
              <a:defRPr sz="2598"/>
            </a:lvl3pPr>
            <a:lvl4pPr marL="2969925" indent="0">
              <a:buNone/>
              <a:defRPr sz="2165"/>
            </a:lvl4pPr>
            <a:lvl5pPr marL="3959901" indent="0">
              <a:buNone/>
              <a:defRPr sz="2165"/>
            </a:lvl5pPr>
            <a:lvl6pPr marL="4949876" indent="0">
              <a:buNone/>
              <a:defRPr sz="2165"/>
            </a:lvl6pPr>
            <a:lvl7pPr marL="5939851" indent="0">
              <a:buNone/>
              <a:defRPr sz="2165"/>
            </a:lvl7pPr>
            <a:lvl8pPr marL="6929826" indent="0">
              <a:buNone/>
              <a:defRPr sz="2165"/>
            </a:lvl8pPr>
            <a:lvl9pPr marL="7919801" indent="0">
              <a:buNone/>
              <a:defRPr sz="2165"/>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EBD01ED4-12BF-42E6-B109-7A35A33F51C3}" type="datetimeFigureOut">
              <a:rPr lang="tr-TR" smtClean="0"/>
              <a:t>24.06.2020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283329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363781" y="1679998"/>
            <a:ext cx="6385790" cy="5879994"/>
          </a:xfrm>
        </p:spPr>
        <p:txBody>
          <a:bodyPr anchor="b"/>
          <a:lstStyle>
            <a:lvl1pPr>
              <a:defRPr sz="6929"/>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8417281" y="3628335"/>
            <a:ext cx="10023396" cy="17908316"/>
          </a:xfrm>
        </p:spPr>
        <p:txBody>
          <a:bodyPr anchor="t"/>
          <a:lstStyle>
            <a:lvl1pPr marL="0" indent="0">
              <a:buNone/>
              <a:defRPr sz="6929"/>
            </a:lvl1pPr>
            <a:lvl2pPr marL="989975" indent="0">
              <a:buNone/>
              <a:defRPr sz="6063"/>
            </a:lvl2pPr>
            <a:lvl3pPr marL="1979950" indent="0">
              <a:buNone/>
              <a:defRPr sz="5197"/>
            </a:lvl3pPr>
            <a:lvl4pPr marL="2969925" indent="0">
              <a:buNone/>
              <a:defRPr sz="4331"/>
            </a:lvl4pPr>
            <a:lvl5pPr marL="3959901" indent="0">
              <a:buNone/>
              <a:defRPr sz="4331"/>
            </a:lvl5pPr>
            <a:lvl6pPr marL="4949876" indent="0">
              <a:buNone/>
              <a:defRPr sz="4331"/>
            </a:lvl6pPr>
            <a:lvl7pPr marL="5939851" indent="0">
              <a:buNone/>
              <a:defRPr sz="4331"/>
            </a:lvl7pPr>
            <a:lvl8pPr marL="6929826" indent="0">
              <a:buNone/>
              <a:defRPr sz="4331"/>
            </a:lvl8pPr>
            <a:lvl9pPr marL="7919801" indent="0">
              <a:buNone/>
              <a:defRPr sz="4331"/>
            </a:lvl9pPr>
          </a:lstStyle>
          <a:p>
            <a:r>
              <a:rPr lang="tr-TR"/>
              <a:t>Resim eklemek için simgeyi tıklatın</a:t>
            </a:r>
            <a:endParaRPr lang="en-US" dirty="0"/>
          </a:p>
        </p:txBody>
      </p:sp>
      <p:sp>
        <p:nvSpPr>
          <p:cNvPr id="4" name="Text Placeholder 3"/>
          <p:cNvSpPr>
            <a:spLocks noGrp="1"/>
          </p:cNvSpPr>
          <p:nvPr>
            <p:ph type="body" sz="half" idx="2"/>
          </p:nvPr>
        </p:nvSpPr>
        <p:spPr>
          <a:xfrm>
            <a:off x="1363781" y="7559993"/>
            <a:ext cx="6385790" cy="14005821"/>
          </a:xfrm>
        </p:spPr>
        <p:txBody>
          <a:bodyPr/>
          <a:lstStyle>
            <a:lvl1pPr marL="0" indent="0">
              <a:buNone/>
              <a:defRPr sz="3464"/>
            </a:lvl1pPr>
            <a:lvl2pPr marL="989975" indent="0">
              <a:buNone/>
              <a:defRPr sz="3031"/>
            </a:lvl2pPr>
            <a:lvl3pPr marL="1979950" indent="0">
              <a:buNone/>
              <a:defRPr sz="2598"/>
            </a:lvl3pPr>
            <a:lvl4pPr marL="2969925" indent="0">
              <a:buNone/>
              <a:defRPr sz="2165"/>
            </a:lvl4pPr>
            <a:lvl5pPr marL="3959901" indent="0">
              <a:buNone/>
              <a:defRPr sz="2165"/>
            </a:lvl5pPr>
            <a:lvl6pPr marL="4949876" indent="0">
              <a:buNone/>
              <a:defRPr sz="2165"/>
            </a:lvl6pPr>
            <a:lvl7pPr marL="5939851" indent="0">
              <a:buNone/>
              <a:defRPr sz="2165"/>
            </a:lvl7pPr>
            <a:lvl8pPr marL="6929826" indent="0">
              <a:buNone/>
              <a:defRPr sz="2165"/>
            </a:lvl8pPr>
            <a:lvl9pPr marL="7919801" indent="0">
              <a:buNone/>
              <a:defRPr sz="2165"/>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EBD01ED4-12BF-42E6-B109-7A35A33F51C3}" type="datetimeFigureOut">
              <a:rPr lang="tr-TR" smtClean="0"/>
              <a:t>24.06.2020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2600274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BD01ED4-12BF-42E6-B109-7A35A33F51C3}" type="datetimeFigureOut">
              <a:rPr lang="tr-TR" smtClean="0"/>
              <a:t>24.06.2020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148043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68875" y="1341665"/>
            <a:ext cx="4269224" cy="21355814"/>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361203" y="1341665"/>
            <a:ext cx="12560181" cy="21355814"/>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BD01ED4-12BF-42E6-B109-7A35A33F51C3}" type="datetimeFigureOut">
              <a:rPr lang="tr-TR" smtClean="0"/>
              <a:t>24.06.2020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48D31A5-BAA9-4373-8F36-401F26256014}" type="slidenum">
              <a:rPr lang="tr-TR" smtClean="0"/>
              <a:t>‹#›</a:t>
            </a:fld>
            <a:endParaRPr lang="tr-TR"/>
          </a:p>
        </p:txBody>
      </p:sp>
    </p:spTree>
    <p:extLst>
      <p:ext uri="{BB962C8B-B14F-4D97-AF65-F5344CB8AC3E}">
        <p14:creationId xmlns:p14="http://schemas.microsoft.com/office/powerpoint/2010/main" val="2109094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1202" y="1341671"/>
            <a:ext cx="17076896" cy="4870830"/>
          </a:xfrm>
          <a:prstGeom prst="rect">
            <a:avLst/>
          </a:prstGeom>
        </p:spPr>
        <p:txBody>
          <a:bodyPr vert="horz" lIns="91440" tIns="45720" rIns="91440" bIns="45720" rtlCol="0" anchor="ctr">
            <a:normAutofit/>
          </a:bodyPr>
          <a:lstStyle/>
          <a:p>
            <a:r>
              <a:rPr lang="tr-TR"/>
              <a:t>Asıl başlık stili için tıklatın</a:t>
            </a:r>
            <a:endParaRPr lang="en-US" dirty="0"/>
          </a:p>
        </p:txBody>
      </p:sp>
      <p:sp>
        <p:nvSpPr>
          <p:cNvPr id="3" name="Text Placeholder 2"/>
          <p:cNvSpPr>
            <a:spLocks noGrp="1"/>
          </p:cNvSpPr>
          <p:nvPr>
            <p:ph type="body" idx="1"/>
          </p:nvPr>
        </p:nvSpPr>
        <p:spPr>
          <a:xfrm>
            <a:off x="1361202" y="6708326"/>
            <a:ext cx="17076896" cy="1598915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361202" y="23356649"/>
            <a:ext cx="4454843" cy="1341665"/>
          </a:xfrm>
          <a:prstGeom prst="rect">
            <a:avLst/>
          </a:prstGeom>
        </p:spPr>
        <p:txBody>
          <a:bodyPr vert="horz" lIns="91440" tIns="45720" rIns="91440" bIns="45720" rtlCol="0" anchor="ctr"/>
          <a:lstStyle>
            <a:lvl1pPr algn="l">
              <a:defRPr sz="2598">
                <a:solidFill>
                  <a:schemeClr val="tx1">
                    <a:tint val="75000"/>
                  </a:schemeClr>
                </a:solidFill>
              </a:defRPr>
            </a:lvl1pPr>
          </a:lstStyle>
          <a:p>
            <a:fld id="{EBD01ED4-12BF-42E6-B109-7A35A33F51C3}" type="datetimeFigureOut">
              <a:rPr lang="tr-TR" smtClean="0"/>
              <a:t>24.06.2020</a:t>
            </a:fld>
            <a:endParaRPr lang="tr-TR"/>
          </a:p>
        </p:txBody>
      </p:sp>
      <p:sp>
        <p:nvSpPr>
          <p:cNvPr id="5" name="Footer Placeholder 4"/>
          <p:cNvSpPr>
            <a:spLocks noGrp="1"/>
          </p:cNvSpPr>
          <p:nvPr>
            <p:ph type="ftr" sz="quarter" idx="3"/>
          </p:nvPr>
        </p:nvSpPr>
        <p:spPr>
          <a:xfrm>
            <a:off x="6558518" y="23356649"/>
            <a:ext cx="6682264" cy="1341665"/>
          </a:xfrm>
          <a:prstGeom prst="rect">
            <a:avLst/>
          </a:prstGeom>
        </p:spPr>
        <p:txBody>
          <a:bodyPr vert="horz" lIns="91440" tIns="45720" rIns="91440" bIns="45720" rtlCol="0" anchor="ctr"/>
          <a:lstStyle>
            <a:lvl1pPr algn="ctr">
              <a:defRPr sz="2598">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3983255" y="23356649"/>
            <a:ext cx="4454843" cy="1341665"/>
          </a:xfrm>
          <a:prstGeom prst="rect">
            <a:avLst/>
          </a:prstGeom>
        </p:spPr>
        <p:txBody>
          <a:bodyPr vert="horz" lIns="91440" tIns="45720" rIns="91440" bIns="45720" rtlCol="0" anchor="ctr"/>
          <a:lstStyle>
            <a:lvl1pPr algn="r">
              <a:defRPr sz="2598">
                <a:solidFill>
                  <a:schemeClr val="tx1">
                    <a:tint val="75000"/>
                  </a:schemeClr>
                </a:solidFill>
              </a:defRPr>
            </a:lvl1pPr>
          </a:lstStyle>
          <a:p>
            <a:fld id="{E48D31A5-BAA9-4373-8F36-401F26256014}" type="slidenum">
              <a:rPr lang="tr-TR" smtClean="0"/>
              <a:t>‹#›</a:t>
            </a:fld>
            <a:endParaRPr lang="tr-TR"/>
          </a:p>
        </p:txBody>
      </p:sp>
    </p:spTree>
    <p:extLst>
      <p:ext uri="{BB962C8B-B14F-4D97-AF65-F5344CB8AC3E}">
        <p14:creationId xmlns:p14="http://schemas.microsoft.com/office/powerpoint/2010/main" val="29608910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979950" rtl="0" eaLnBrk="1" latinLnBrk="0" hangingPunct="1">
        <a:lnSpc>
          <a:spcPct val="90000"/>
        </a:lnSpc>
        <a:spcBef>
          <a:spcPct val="0"/>
        </a:spcBef>
        <a:buNone/>
        <a:defRPr sz="9527" kern="1200">
          <a:solidFill>
            <a:schemeClr val="tx1"/>
          </a:solidFill>
          <a:latin typeface="+mj-lt"/>
          <a:ea typeface="+mj-ea"/>
          <a:cs typeface="+mj-cs"/>
        </a:defRPr>
      </a:lvl1pPr>
    </p:titleStyle>
    <p:bodyStyle>
      <a:lvl1pPr marL="494988" indent="-494988" algn="l" defTabSz="1979950" rtl="0" eaLnBrk="1" latinLnBrk="0" hangingPunct="1">
        <a:lnSpc>
          <a:spcPct val="90000"/>
        </a:lnSpc>
        <a:spcBef>
          <a:spcPts val="2165"/>
        </a:spcBef>
        <a:buFont typeface="Arial" panose="020B0604020202020204" pitchFamily="34" charset="0"/>
        <a:buChar char="•"/>
        <a:defRPr sz="6063" kern="1200">
          <a:solidFill>
            <a:schemeClr val="tx1"/>
          </a:solidFill>
          <a:latin typeface="+mn-lt"/>
          <a:ea typeface="+mn-ea"/>
          <a:cs typeface="+mn-cs"/>
        </a:defRPr>
      </a:lvl1pPr>
      <a:lvl2pPr marL="1484963" indent="-494988" algn="l" defTabSz="1979950" rtl="0" eaLnBrk="1" latinLnBrk="0" hangingPunct="1">
        <a:lnSpc>
          <a:spcPct val="90000"/>
        </a:lnSpc>
        <a:spcBef>
          <a:spcPts val="1083"/>
        </a:spcBef>
        <a:buFont typeface="Arial" panose="020B0604020202020204" pitchFamily="34" charset="0"/>
        <a:buChar char="•"/>
        <a:defRPr sz="5197" kern="1200">
          <a:solidFill>
            <a:schemeClr val="tx1"/>
          </a:solidFill>
          <a:latin typeface="+mn-lt"/>
          <a:ea typeface="+mn-ea"/>
          <a:cs typeface="+mn-cs"/>
        </a:defRPr>
      </a:lvl2pPr>
      <a:lvl3pPr marL="2474938" indent="-494988" algn="l" defTabSz="1979950" rtl="0" eaLnBrk="1" latinLnBrk="0" hangingPunct="1">
        <a:lnSpc>
          <a:spcPct val="90000"/>
        </a:lnSpc>
        <a:spcBef>
          <a:spcPts val="1083"/>
        </a:spcBef>
        <a:buFont typeface="Arial" panose="020B0604020202020204" pitchFamily="34" charset="0"/>
        <a:buChar char="•"/>
        <a:defRPr sz="4331" kern="1200">
          <a:solidFill>
            <a:schemeClr val="tx1"/>
          </a:solidFill>
          <a:latin typeface="+mn-lt"/>
          <a:ea typeface="+mn-ea"/>
          <a:cs typeface="+mn-cs"/>
        </a:defRPr>
      </a:lvl3pPr>
      <a:lvl4pPr marL="3464913"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4pPr>
      <a:lvl5pPr marL="4454888"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5pPr>
      <a:lvl6pPr marL="5444863"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6pPr>
      <a:lvl7pPr marL="6434839"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7pPr>
      <a:lvl8pPr marL="7424814"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8pPr>
      <a:lvl9pPr marL="8414789"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9pPr>
    </p:bodyStyle>
    <p:otherStyle>
      <a:defPPr>
        <a:defRPr lang="en-US"/>
      </a:defPPr>
      <a:lvl1pPr marL="0" algn="l" defTabSz="1979950" rtl="0" eaLnBrk="1" latinLnBrk="0" hangingPunct="1">
        <a:defRPr sz="3898" kern="1200">
          <a:solidFill>
            <a:schemeClr val="tx1"/>
          </a:solidFill>
          <a:latin typeface="+mn-lt"/>
          <a:ea typeface="+mn-ea"/>
          <a:cs typeface="+mn-cs"/>
        </a:defRPr>
      </a:lvl1pPr>
      <a:lvl2pPr marL="989975" algn="l" defTabSz="1979950" rtl="0" eaLnBrk="1" latinLnBrk="0" hangingPunct="1">
        <a:defRPr sz="3898" kern="1200">
          <a:solidFill>
            <a:schemeClr val="tx1"/>
          </a:solidFill>
          <a:latin typeface="+mn-lt"/>
          <a:ea typeface="+mn-ea"/>
          <a:cs typeface="+mn-cs"/>
        </a:defRPr>
      </a:lvl2pPr>
      <a:lvl3pPr marL="1979950" algn="l" defTabSz="1979950" rtl="0" eaLnBrk="1" latinLnBrk="0" hangingPunct="1">
        <a:defRPr sz="3898" kern="1200">
          <a:solidFill>
            <a:schemeClr val="tx1"/>
          </a:solidFill>
          <a:latin typeface="+mn-lt"/>
          <a:ea typeface="+mn-ea"/>
          <a:cs typeface="+mn-cs"/>
        </a:defRPr>
      </a:lvl3pPr>
      <a:lvl4pPr marL="2969925" algn="l" defTabSz="1979950" rtl="0" eaLnBrk="1" latinLnBrk="0" hangingPunct="1">
        <a:defRPr sz="3898" kern="1200">
          <a:solidFill>
            <a:schemeClr val="tx1"/>
          </a:solidFill>
          <a:latin typeface="+mn-lt"/>
          <a:ea typeface="+mn-ea"/>
          <a:cs typeface="+mn-cs"/>
        </a:defRPr>
      </a:lvl4pPr>
      <a:lvl5pPr marL="3959901" algn="l" defTabSz="1979950" rtl="0" eaLnBrk="1" latinLnBrk="0" hangingPunct="1">
        <a:defRPr sz="3898" kern="1200">
          <a:solidFill>
            <a:schemeClr val="tx1"/>
          </a:solidFill>
          <a:latin typeface="+mn-lt"/>
          <a:ea typeface="+mn-ea"/>
          <a:cs typeface="+mn-cs"/>
        </a:defRPr>
      </a:lvl5pPr>
      <a:lvl6pPr marL="4949876" algn="l" defTabSz="1979950" rtl="0" eaLnBrk="1" latinLnBrk="0" hangingPunct="1">
        <a:defRPr sz="3898" kern="1200">
          <a:solidFill>
            <a:schemeClr val="tx1"/>
          </a:solidFill>
          <a:latin typeface="+mn-lt"/>
          <a:ea typeface="+mn-ea"/>
          <a:cs typeface="+mn-cs"/>
        </a:defRPr>
      </a:lvl6pPr>
      <a:lvl7pPr marL="5939851" algn="l" defTabSz="1979950" rtl="0" eaLnBrk="1" latinLnBrk="0" hangingPunct="1">
        <a:defRPr sz="3898" kern="1200">
          <a:solidFill>
            <a:schemeClr val="tx1"/>
          </a:solidFill>
          <a:latin typeface="+mn-lt"/>
          <a:ea typeface="+mn-ea"/>
          <a:cs typeface="+mn-cs"/>
        </a:defRPr>
      </a:lvl7pPr>
      <a:lvl8pPr marL="6929826" algn="l" defTabSz="1979950" rtl="0" eaLnBrk="1" latinLnBrk="0" hangingPunct="1">
        <a:defRPr sz="3898" kern="1200">
          <a:solidFill>
            <a:schemeClr val="tx1"/>
          </a:solidFill>
          <a:latin typeface="+mn-lt"/>
          <a:ea typeface="+mn-ea"/>
          <a:cs typeface="+mn-cs"/>
        </a:defRPr>
      </a:lvl8pPr>
      <a:lvl9pPr marL="7919801" algn="l" defTabSz="1979950" rtl="0" eaLnBrk="1" latinLnBrk="0" hangingPunct="1">
        <a:defRPr sz="38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QuickStyle" Target="../diagrams/quickStyle1.xml"/><Relationship Id="rId11" Type="http://schemas.openxmlformats.org/officeDocument/2006/relationships/image" Target="../media/image5.png"/><Relationship Id="rId5" Type="http://schemas.openxmlformats.org/officeDocument/2006/relationships/diagramLayout" Target="../diagrams/layout1.xml"/><Relationship Id="rId10" Type="http://schemas.openxmlformats.org/officeDocument/2006/relationships/image" Target="../media/image4.jpg"/><Relationship Id="rId4" Type="http://schemas.openxmlformats.org/officeDocument/2006/relationships/diagramData" Target="../diagrams/data1.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9"/>
          <p:cNvGrpSpPr>
            <a:grpSpLocks/>
          </p:cNvGrpSpPr>
          <p:nvPr/>
        </p:nvGrpSpPr>
        <p:grpSpPr bwMode="auto">
          <a:xfrm>
            <a:off x="445769" y="3424730"/>
            <a:ext cx="18900775" cy="142692"/>
            <a:chOff x="1727" y="928"/>
            <a:chExt cx="22793" cy="2"/>
          </a:xfrm>
        </p:grpSpPr>
        <p:sp>
          <p:nvSpPr>
            <p:cNvPr id="30" name="Freeform 10"/>
            <p:cNvSpPr>
              <a:spLocks/>
            </p:cNvSpPr>
            <p:nvPr/>
          </p:nvSpPr>
          <p:spPr bwMode="auto">
            <a:xfrm>
              <a:off x="1727" y="928"/>
              <a:ext cx="22793" cy="2"/>
            </a:xfrm>
            <a:custGeom>
              <a:avLst/>
              <a:gdLst>
                <a:gd name="T0" fmla="+- 0 1727 1727"/>
                <a:gd name="T1" fmla="*/ T0 w 22793"/>
                <a:gd name="T2" fmla="+- 0 24519 1727"/>
                <a:gd name="T3" fmla="*/ T2 w 22793"/>
              </a:gdLst>
              <a:ahLst/>
              <a:cxnLst>
                <a:cxn ang="0">
                  <a:pos x="T1" y="0"/>
                </a:cxn>
                <a:cxn ang="0">
                  <a:pos x="T3" y="0"/>
                </a:cxn>
              </a:cxnLst>
              <a:rect l="0" t="0" r="r" b="b"/>
              <a:pathLst>
                <a:path w="22793">
                  <a:moveTo>
                    <a:pt x="0" y="0"/>
                  </a:moveTo>
                  <a:lnTo>
                    <a:pt x="22792" y="0"/>
                  </a:lnTo>
                </a:path>
              </a:pathLst>
            </a:custGeom>
            <a:noFill/>
            <a:ln w="60782">
              <a:solidFill>
                <a:srgbClr val="003366"/>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tr-TR"/>
            </a:p>
          </p:txBody>
        </p:sp>
      </p:grpSp>
      <p:grpSp>
        <p:nvGrpSpPr>
          <p:cNvPr id="32" name="Group 4"/>
          <p:cNvGrpSpPr>
            <a:grpSpLocks/>
          </p:cNvGrpSpPr>
          <p:nvPr/>
        </p:nvGrpSpPr>
        <p:grpSpPr bwMode="auto">
          <a:xfrm>
            <a:off x="9797733" y="3998430"/>
            <a:ext cx="239066" cy="20019809"/>
            <a:chOff x="12231" y="-16233"/>
            <a:chExt cx="155" cy="23220"/>
          </a:xfrm>
        </p:grpSpPr>
        <p:pic>
          <p:nvPicPr>
            <p:cNvPr id="3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1" y="-16233"/>
              <a:ext cx="155" cy="23220"/>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oup 5"/>
            <p:cNvGrpSpPr>
              <a:grpSpLocks/>
            </p:cNvGrpSpPr>
            <p:nvPr/>
          </p:nvGrpSpPr>
          <p:grpSpPr bwMode="auto">
            <a:xfrm>
              <a:off x="12308" y="-16184"/>
              <a:ext cx="2" cy="23087"/>
              <a:chOff x="12308" y="-16184"/>
              <a:chExt cx="2" cy="23087"/>
            </a:xfrm>
          </p:grpSpPr>
          <p:sp>
            <p:nvSpPr>
              <p:cNvPr id="35" name="Freeform 6"/>
              <p:cNvSpPr>
                <a:spLocks/>
              </p:cNvSpPr>
              <p:nvPr/>
            </p:nvSpPr>
            <p:spPr bwMode="auto">
              <a:xfrm>
                <a:off x="12308" y="-16184"/>
                <a:ext cx="2" cy="23087"/>
              </a:xfrm>
              <a:custGeom>
                <a:avLst/>
                <a:gdLst>
                  <a:gd name="T0" fmla="+- 0 6904 -16184"/>
                  <a:gd name="T1" fmla="*/ 6904 h 23087"/>
                  <a:gd name="T2" fmla="+- 0 -16184 -16184"/>
                  <a:gd name="T3" fmla="*/ -16184 h 23087"/>
                </a:gdLst>
                <a:ahLst/>
                <a:cxnLst>
                  <a:cxn ang="0">
                    <a:pos x="0" y="T1"/>
                  </a:cxn>
                  <a:cxn ang="0">
                    <a:pos x="0" y="T3"/>
                  </a:cxn>
                </a:cxnLst>
                <a:rect l="0" t="0" r="r" b="b"/>
                <a:pathLst>
                  <a:path h="23087">
                    <a:moveTo>
                      <a:pt x="0" y="23088"/>
                    </a:moveTo>
                    <a:lnTo>
                      <a:pt x="0" y="0"/>
                    </a:lnTo>
                  </a:path>
                </a:pathLst>
              </a:custGeom>
              <a:noFill/>
              <a:ln w="30391">
                <a:solidFill>
                  <a:srgbClr val="2C2CB8"/>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tr-TR"/>
              </a:p>
            </p:txBody>
          </p:sp>
        </p:grpSp>
      </p:grpSp>
      <p:sp>
        <p:nvSpPr>
          <p:cNvPr id="19" name="Rectangle 36"/>
          <p:cNvSpPr>
            <a:spLocks noChangeArrowheads="1"/>
          </p:cNvSpPr>
          <p:nvPr/>
        </p:nvSpPr>
        <p:spPr bwMode="auto">
          <a:xfrm>
            <a:off x="0" y="0"/>
            <a:ext cx="1979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20" name="Rectangle 37"/>
          <p:cNvSpPr>
            <a:spLocks noChangeArrowheads="1"/>
          </p:cNvSpPr>
          <p:nvPr/>
        </p:nvSpPr>
        <p:spPr bwMode="auto">
          <a:xfrm>
            <a:off x="3226135" y="486442"/>
            <a:ext cx="13380720"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3400" b="1" dirty="0">
                <a:solidFill>
                  <a:srgbClr val="006FC0"/>
                </a:solidFill>
                <a:latin typeface="Times New Roman" panose="02020603050405020304" pitchFamily="18" charset="0"/>
                <a:ea typeface="Times New Roman" panose="02020603050405020304" pitchFamily="18" charset="0"/>
                <a:cs typeface="Times New Roman" panose="02020603050405020304" pitchFamily="18" charset="0"/>
              </a:rPr>
              <a:t>ASSEMBLY LINE BALANCING</a:t>
            </a:r>
            <a:endParaRPr kumimoji="0" lang="tr-TR" sz="3400" b="1" i="0" u="none" strike="noStrike" cap="none" normalizeH="0" baseline="0" dirty="0">
              <a:ln>
                <a:noFill/>
              </a:ln>
              <a:solidFill>
                <a:srgbClr val="006FC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tr-TR" sz="3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tr-TR" sz="3400" b="1" i="0" u="none" strike="noStrike" cap="none" normalizeH="0" baseline="0" dirty="0">
                <a:ln>
                  <a:noFill/>
                </a:ln>
                <a:solidFill>
                  <a:srgbClr val="006FC0"/>
                </a:solidFill>
                <a:effectLst/>
                <a:latin typeface="Times New Roman" panose="02020603050405020304" pitchFamily="18" charset="0"/>
                <a:ea typeface="Times New Roman" panose="02020603050405020304" pitchFamily="18" charset="0"/>
                <a:cs typeface="Times New Roman" panose="02020603050405020304" pitchFamily="18" charset="0"/>
              </a:rPr>
              <a:t>PROF. </a:t>
            </a:r>
            <a:r>
              <a:rPr kumimoji="0" lang="en-US" sz="3400" b="1" i="0" u="none" strike="noStrike" cap="none" normalizeH="0" baseline="0" dirty="0">
                <a:ln>
                  <a:noFill/>
                </a:ln>
                <a:solidFill>
                  <a:srgbClr val="006FC0"/>
                </a:solidFill>
                <a:effectLst/>
                <a:latin typeface="Times New Roman" panose="02020603050405020304" pitchFamily="18" charset="0"/>
                <a:ea typeface="Times New Roman" panose="02020603050405020304" pitchFamily="18" charset="0"/>
                <a:cs typeface="Times New Roman" panose="02020603050405020304" pitchFamily="18" charset="0"/>
              </a:rPr>
              <a:t>ALEV TASKIN GUMUS</a:t>
            </a:r>
            <a:endParaRPr kumimoji="0" lang="tr-TR" sz="3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tr-TR" sz="3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4" name="Rectangle 38"/>
          <p:cNvSpPr>
            <a:spLocks noChangeArrowheads="1"/>
          </p:cNvSpPr>
          <p:nvPr/>
        </p:nvSpPr>
        <p:spPr bwMode="auto">
          <a:xfrm>
            <a:off x="219142" y="3998430"/>
            <a:ext cx="9413411" cy="11203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tr-TR" sz="2200" b="1" dirty="0">
                <a:latin typeface="Times New Roman" panose="02020603050405020304" pitchFamily="18" charset="0"/>
                <a:ea typeface="Calibri" panose="020F0502020204030204" pitchFamily="34" charset="0"/>
                <a:cs typeface="Times New Roman" panose="02020603050405020304" pitchFamily="18" charset="0"/>
              </a:rPr>
              <a:t>ABSTRACT</a:t>
            </a: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lvl="0" algn="just" defTabSz="914400" eaLnBrk="0" fontAlgn="base" hangingPunct="0">
              <a:spcBef>
                <a:spcPct val="0"/>
              </a:spcBef>
              <a:spcAft>
                <a:spcPct val="0"/>
              </a:spcAft>
            </a:pPr>
            <a:r>
              <a:rPr lang="en-US" sz="1800" dirty="0">
                <a:latin typeface="Times New Roman" panose="02020603050405020304" pitchFamily="18" charset="0"/>
                <a:cs typeface="Times New Roman" panose="02020603050405020304" pitchFamily="18" charset="0"/>
              </a:rPr>
              <a:t>Assembly lines are special production flow-line systems that are of great importance in the industrial production of high quantity products. For decades, line balancing has attracted the attention of researchers trying to find solutions to its real world applications. While tremendous work has been done in this field, there is still a gap between research and real problems. After evaluating over 100 articles, this study provides a new non-linear mixed integer mathematical programming approach to solve line balancing problem that has been provided by one of the leading companies in manufacturing sector particularly at home appliances. Applying model to given data, which is a SALBP-2 in this case, demonstrates the gains of the parallel line assignment and multi-manned workstation approach in line balancing studies. After that, difficulties with Mathematical Programming Based Approaches are discussed and a framework is proposed for future studies which contains suggestion of using Genetic Algorithms from Meta-Heuristics Approach.</a:t>
            </a:r>
          </a:p>
          <a:p>
            <a:pPr lvl="0" algn="just" defTabSz="914400" eaLnBrk="0" fontAlgn="base" hangingPunct="0">
              <a:spcBef>
                <a:spcPct val="0"/>
              </a:spcBef>
              <a:spcAft>
                <a:spcPct val="0"/>
              </a:spcAft>
            </a:pPr>
            <a:r>
              <a:rPr lang="en-US" sz="1800" dirty="0">
                <a:latin typeface="Times New Roman" panose="02020603050405020304" pitchFamily="18" charset="0"/>
                <a:cs typeface="Times New Roman" panose="02020603050405020304" pitchFamily="18" charset="0"/>
              </a:rPr>
              <a:t>.</a:t>
            </a:r>
            <a:endParaRPr lang="tr-TR" sz="1800"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4" name="Rectangle 38"/>
          <p:cNvSpPr>
            <a:spLocks noChangeArrowheads="1"/>
          </p:cNvSpPr>
          <p:nvPr/>
        </p:nvSpPr>
        <p:spPr bwMode="auto">
          <a:xfrm>
            <a:off x="10160696" y="17204364"/>
            <a:ext cx="9453331"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tr-TR" sz="2200" b="1" dirty="0">
                <a:latin typeface="Times New Roman" panose="02020603050405020304" pitchFamily="18" charset="0"/>
                <a:cs typeface="Times New Roman" panose="02020603050405020304" pitchFamily="18" charset="0"/>
              </a:rPr>
              <a:t>CONCLUSION</a:t>
            </a:r>
            <a:endParaRPr lang="en-US" sz="2200" b="1"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tr-TR" sz="2200" b="1"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sz="1800" dirty="0">
                <a:latin typeface="Times New Roman" panose="02020603050405020304" pitchFamily="18" charset="0"/>
                <a:cs typeface="Times New Roman" panose="02020603050405020304" pitchFamily="18" charset="0"/>
              </a:rPr>
              <a:t>The mathematical model is solved in python programming language. Table-1 below shows which tasks and which operators are assigned to which station. Parallel assigned tasks are marked in red color. As a result of this study, a new non-linear mixed integer mathematical programming has been introduced to the literature for the solution of SALBP-2 by clearly demonstrating the gains of the parallel line assignment and multi-manned workstation approach in line balancing studies.</a:t>
            </a:r>
            <a:endParaRPr lang="tr-TR" sz="1800" dirty="0">
              <a:latin typeface="Times New Roman" panose="02020603050405020304" pitchFamily="18" charset="0"/>
              <a:cs typeface="Times New Roman" panose="02020603050405020304" pitchFamily="18" charset="0"/>
            </a:endParaRPr>
          </a:p>
        </p:txBody>
      </p:sp>
      <p:sp>
        <p:nvSpPr>
          <p:cNvPr id="41" name="Dikdörtgen 40"/>
          <p:cNvSpPr/>
          <p:nvPr/>
        </p:nvSpPr>
        <p:spPr>
          <a:xfrm>
            <a:off x="8135398" y="2179080"/>
            <a:ext cx="3562194" cy="1107996"/>
          </a:xfrm>
          <a:prstGeom prst="rect">
            <a:avLst/>
          </a:prstGeom>
        </p:spPr>
        <p:txBody>
          <a:bodyPr wrap="none">
            <a:spAutoFit/>
          </a:bodyPr>
          <a:lstStyle/>
          <a:p>
            <a:pPr algn="ctr" defTabSz="914400" eaLnBrk="0" fontAlgn="base" hangingPunct="0">
              <a:spcBef>
                <a:spcPct val="0"/>
              </a:spcBef>
              <a:spcAft>
                <a:spcPct val="0"/>
              </a:spcAft>
            </a:pPr>
            <a:r>
              <a:rPr lang="tr-TR" sz="2200" i="1" dirty="0">
                <a:latin typeface="Times New Roman" panose="02020603050405020304" pitchFamily="18" charset="0"/>
                <a:cs typeface="Times New Roman" panose="02020603050405020304" pitchFamily="18" charset="0"/>
              </a:rPr>
              <a:t>150</a:t>
            </a:r>
            <a:r>
              <a:rPr lang="en-US" sz="2200" i="1" dirty="0">
                <a:latin typeface="Times New Roman" panose="02020603050405020304" pitchFamily="18" charset="0"/>
                <a:cs typeface="Times New Roman" panose="02020603050405020304" pitchFamily="18" charset="0"/>
              </a:rPr>
              <a:t>61029</a:t>
            </a:r>
            <a:r>
              <a:rPr lang="tr-TR" sz="2200" i="1"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 </a:t>
            </a:r>
            <a:r>
              <a:rPr lang="tr-TR" sz="2200" i="1"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Busra</a:t>
            </a:r>
            <a:r>
              <a:rPr lang="en-US" sz="2200" i="1"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Karaali</a:t>
            </a:r>
            <a:endParaRPr lang="en-US" sz="2200" i="1" dirty="0">
              <a:latin typeface="Times New Roman" panose="02020603050405020304" pitchFamily="18" charset="0"/>
              <a:cs typeface="Times New Roman" panose="02020603050405020304" pitchFamily="18" charset="0"/>
            </a:endParaRPr>
          </a:p>
          <a:p>
            <a:pPr algn="ctr" defTabSz="914400" eaLnBrk="0" fontAlgn="base" hangingPunct="0">
              <a:spcBef>
                <a:spcPct val="0"/>
              </a:spcBef>
              <a:spcAft>
                <a:spcPct val="0"/>
              </a:spcAft>
            </a:pPr>
            <a:r>
              <a:rPr kumimoji="0" 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15061050 - </a:t>
            </a:r>
            <a:r>
              <a:rPr lang="en-US" sz="2200" i="1" dirty="0" err="1">
                <a:latin typeface="Times New Roman" panose="02020603050405020304" pitchFamily="18" charset="0"/>
                <a:cs typeface="Times New Roman" panose="02020603050405020304" pitchFamily="18" charset="0"/>
              </a:rPr>
              <a:t>Il</a:t>
            </a:r>
            <a:r>
              <a:rPr kumimoji="0" lang="en-US" sz="2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knur</a:t>
            </a:r>
            <a:r>
              <a:rPr kumimoji="0" 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Sezen</a:t>
            </a:r>
            <a:endParaRPr kumimoji="0" 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ctr" defTabSz="914400" eaLnBrk="0" fontAlgn="base" hangingPunct="0">
              <a:spcBef>
                <a:spcPct val="0"/>
              </a:spcBef>
              <a:spcAft>
                <a:spcPct val="0"/>
              </a:spcAft>
            </a:pPr>
            <a:r>
              <a:rPr lang="en-US" sz="2200" i="1" dirty="0">
                <a:latin typeface="Times New Roman" panose="02020603050405020304" pitchFamily="18" charset="0"/>
                <a:cs typeface="Times New Roman" panose="02020603050405020304" pitchFamily="18" charset="0"/>
              </a:rPr>
              <a:t>15061069 - Mustafa </a:t>
            </a:r>
            <a:r>
              <a:rPr lang="en-US" sz="2200" i="1" dirty="0" err="1">
                <a:latin typeface="Times New Roman" panose="02020603050405020304" pitchFamily="18" charset="0"/>
                <a:cs typeface="Times New Roman" panose="02020603050405020304" pitchFamily="18" charset="0"/>
              </a:rPr>
              <a:t>Kurtoglu</a:t>
            </a:r>
            <a:endParaRPr kumimoji="0" lang="tr-TR"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7" name="Resim 66"/>
          <p:cNvPicPr/>
          <p:nvPr/>
        </p:nvPicPr>
        <p:blipFill>
          <a:blip r:embed="rId3">
            <a:extLst>
              <a:ext uri="{28A0092B-C50C-407E-A947-70E740481C1C}">
                <a14:useLocalDpi xmlns:a14="http://schemas.microsoft.com/office/drawing/2010/main" val="0"/>
              </a:ext>
            </a:extLst>
          </a:blip>
          <a:srcRect/>
          <a:stretch>
            <a:fillRect/>
          </a:stretch>
        </p:blipFill>
        <p:spPr bwMode="auto">
          <a:xfrm>
            <a:off x="445769" y="796925"/>
            <a:ext cx="2667113" cy="2260217"/>
          </a:xfrm>
          <a:prstGeom prst="rect">
            <a:avLst/>
          </a:prstGeom>
          <a:noFill/>
        </p:spPr>
      </p:pic>
      <p:sp>
        <p:nvSpPr>
          <p:cNvPr id="2" name="Rectangle 1">
            <a:extLst>
              <a:ext uri="{FF2B5EF4-FFF2-40B4-BE49-F238E27FC236}">
                <a16:creationId xmlns:a16="http://schemas.microsoft.com/office/drawing/2014/main" id="{AE41D680-52A7-4C6A-AA70-1F6C2D79EF93}"/>
              </a:ext>
            </a:extLst>
          </p:cNvPr>
          <p:cNvSpPr/>
          <p:nvPr/>
        </p:nvSpPr>
        <p:spPr>
          <a:xfrm>
            <a:off x="15178766" y="981852"/>
            <a:ext cx="3212739"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tr-TR" sz="2400" dirty="0" err="1">
                <a:ln w="0"/>
                <a:effectLst>
                  <a:outerShdw blurRad="38100" dist="19050" dir="2700000" algn="tl" rotWithShape="0">
                    <a:schemeClr val="dk1">
                      <a:alpha val="40000"/>
                    </a:schemeClr>
                  </a:outerShdw>
                </a:effectLst>
              </a:rPr>
              <a:t>Industrial</a:t>
            </a:r>
            <a:r>
              <a:rPr lang="tr-TR" sz="2400" dirty="0">
                <a:ln w="0"/>
                <a:effectLst>
                  <a:outerShdw blurRad="38100" dist="19050" dir="2700000" algn="tl" rotWithShape="0">
                    <a:schemeClr val="dk1">
                      <a:alpha val="40000"/>
                    </a:schemeClr>
                  </a:outerShdw>
                </a:effectLst>
              </a:rPr>
              <a:t> </a:t>
            </a:r>
            <a:r>
              <a:rPr lang="tr-TR" sz="2400" dirty="0" err="1">
                <a:ln w="0"/>
                <a:effectLst>
                  <a:outerShdw blurRad="38100" dist="19050" dir="2700000" algn="tl" rotWithShape="0">
                    <a:schemeClr val="dk1">
                      <a:alpha val="40000"/>
                    </a:schemeClr>
                  </a:outerShdw>
                </a:effectLst>
              </a:rPr>
              <a:t>Engineering</a:t>
            </a:r>
            <a:endParaRPr lang="tr-TR" sz="2400" dirty="0">
              <a:ln w="0"/>
              <a:effectLst>
                <a:outerShdw blurRad="38100" dist="19050" dir="2700000" algn="tl" rotWithShape="0">
                  <a:schemeClr val="dk1">
                    <a:alpha val="40000"/>
                  </a:schemeClr>
                </a:outerShdw>
              </a:effectLst>
            </a:endParaRPr>
          </a:p>
          <a:p>
            <a:pPr algn="ctr"/>
            <a:r>
              <a:rPr lang="tr-TR" sz="2400" dirty="0" err="1">
                <a:ln w="0"/>
                <a:effectLst>
                  <a:outerShdw blurRad="38100" dist="19050" dir="2700000" algn="tl" rotWithShape="0">
                    <a:schemeClr val="dk1">
                      <a:alpha val="40000"/>
                    </a:schemeClr>
                  </a:outerShdw>
                </a:effectLst>
              </a:rPr>
              <a:t>Department</a:t>
            </a:r>
            <a:endParaRPr lang="tr-TR" sz="2400" dirty="0">
              <a:ln w="0"/>
              <a:effectLst>
                <a:outerShdw blurRad="38100" dist="19050" dir="2700000" algn="tl" rotWithShape="0">
                  <a:schemeClr val="dk1">
                    <a:alpha val="40000"/>
                  </a:schemeClr>
                </a:outerShdw>
              </a:effectLst>
            </a:endParaRPr>
          </a:p>
          <a:p>
            <a:pPr algn="ctr"/>
            <a:r>
              <a:rPr lang="tr-TR" sz="2400" dirty="0" err="1">
                <a:ln w="0"/>
                <a:effectLst>
                  <a:outerShdw blurRad="38100" dist="19050" dir="2700000" algn="tl" rotWithShape="0">
                    <a:schemeClr val="dk1">
                      <a:alpha val="40000"/>
                    </a:schemeClr>
                  </a:outerShdw>
                </a:effectLst>
              </a:rPr>
              <a:t>Bachelor</a:t>
            </a:r>
            <a:r>
              <a:rPr lang="tr-TR" sz="2400" dirty="0">
                <a:ln w="0"/>
                <a:effectLst>
                  <a:outerShdw blurRad="38100" dist="19050" dir="2700000" algn="tl" rotWithShape="0">
                    <a:schemeClr val="dk1">
                      <a:alpha val="40000"/>
                    </a:schemeClr>
                  </a:outerShdw>
                </a:effectLst>
              </a:rPr>
              <a:t> </a:t>
            </a:r>
            <a:r>
              <a:rPr lang="tr-TR" sz="2400" dirty="0" err="1">
                <a:ln w="0"/>
                <a:effectLst>
                  <a:outerShdw blurRad="38100" dist="19050" dir="2700000" algn="tl" rotWithShape="0">
                    <a:schemeClr val="dk1">
                      <a:alpha val="40000"/>
                    </a:schemeClr>
                  </a:outerShdw>
                </a:effectLst>
              </a:rPr>
              <a:t>Thesis</a:t>
            </a:r>
            <a:r>
              <a:rPr lang="tr-TR" sz="2400" dirty="0">
                <a:ln w="0"/>
                <a:effectLst>
                  <a:outerShdw blurRad="38100" dist="19050" dir="2700000" algn="tl" rotWithShape="0">
                    <a:schemeClr val="dk1">
                      <a:alpha val="40000"/>
                    </a:schemeClr>
                  </a:outerShdw>
                </a:effectLst>
              </a:rPr>
              <a:t>/Project</a:t>
            </a:r>
            <a:endParaRPr lang="en-US" sz="2400" dirty="0">
              <a:ln w="0"/>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1B88686B-750B-44DE-B878-CDFDC56C7870}"/>
              </a:ext>
            </a:extLst>
          </p:cNvPr>
          <p:cNvSpPr txBox="1"/>
          <p:nvPr/>
        </p:nvSpPr>
        <p:spPr>
          <a:xfrm>
            <a:off x="219142" y="7857448"/>
            <a:ext cx="9350063" cy="1877437"/>
          </a:xfrm>
          <a:prstGeom prst="rect">
            <a:avLst/>
          </a:prstGeom>
          <a:noFill/>
        </p:spPr>
        <p:txBody>
          <a:bodyPr wrap="square" rtlCol="0">
            <a:spAutoFit/>
          </a:bodyPr>
          <a:lstStyle/>
          <a:p>
            <a:pPr algn="ctr"/>
            <a:r>
              <a:rPr lang="tr-TR" sz="2200" b="1" dirty="0">
                <a:latin typeface="Times New Roman" panose="02020603050405020304" pitchFamily="18" charset="0"/>
                <a:cs typeface="Times New Roman" panose="02020603050405020304" pitchFamily="18" charset="0"/>
              </a:rPr>
              <a:t>METHODOLOGY</a:t>
            </a:r>
          </a:p>
          <a:p>
            <a:pPr algn="ctr"/>
            <a:endParaRPr lang="tr-TR" sz="22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this study, the following steps are followed as methodology steps. In the framework of this methodology, firstly the value flow mapping(VSM) technique is used to see the whole production and stock points. Afterwards, Precedence Diagram is used to map the precedential relationships of the tasks in the line. </a:t>
            </a:r>
            <a:endParaRPr lang="en-US" sz="22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8E758C71-983F-4901-9D03-06FACC75A6EF}"/>
              </a:ext>
            </a:extLst>
          </p:cNvPr>
          <p:cNvSpPr txBox="1"/>
          <p:nvPr/>
        </p:nvSpPr>
        <p:spPr>
          <a:xfrm>
            <a:off x="219142" y="17421093"/>
            <a:ext cx="9350063" cy="2985433"/>
          </a:xfrm>
          <a:prstGeom prst="rect">
            <a:avLst/>
          </a:prstGeom>
          <a:noFill/>
        </p:spPr>
        <p:txBody>
          <a:bodyPr wrap="square" rtlCol="0">
            <a:spAutoFit/>
          </a:bodyPr>
          <a:lstStyle/>
          <a:p>
            <a:pPr algn="ctr"/>
            <a:r>
              <a:rPr lang="tr-TR" sz="2200" b="1" dirty="0">
                <a:latin typeface="Times New Roman" panose="02020603050405020304" pitchFamily="18" charset="0"/>
                <a:cs typeface="Times New Roman" panose="02020603050405020304" pitchFamily="18" charset="0"/>
              </a:rPr>
              <a:t>APPLICATION</a:t>
            </a:r>
          </a:p>
          <a:p>
            <a:pPr algn="ctr"/>
            <a:endParaRPr lang="tr-TR" sz="22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Subject of the study is one of the world's leading companies in the sector and the one of the largest home appliances manufacturer in Europe. The company’s high quality level plant is analyzed in this study. The problem addressed in this research is the </a:t>
            </a:r>
            <a:r>
              <a:rPr lang="tr-TR" sz="1800" dirty="0" err="1">
                <a:latin typeface="Times New Roman" panose="02020603050405020304" pitchFamily="18" charset="0"/>
                <a:cs typeface="Times New Roman" panose="02020603050405020304" pitchFamily="18" charset="0"/>
              </a:rPr>
              <a:t>single</a:t>
            </a:r>
            <a:r>
              <a:rPr lang="en-US" sz="1800" dirty="0">
                <a:latin typeface="Times New Roman" panose="02020603050405020304" pitchFamily="18" charset="0"/>
                <a:cs typeface="Times New Roman" panose="02020603050405020304" pitchFamily="18" charset="0"/>
              </a:rPr>
              <a:t>-model assembly line balancing problem of type-II Each model has its own set of precedence relationships, but it is possible to combine all the relationships into one precedence diagram with various number of tasks. Each task has a processing time that may vary between models.</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a:t>
            </a:r>
          </a:p>
        </p:txBody>
      </p:sp>
      <p:sp>
        <p:nvSpPr>
          <p:cNvPr id="37" name="Rectangle 40">
            <a:extLst>
              <a:ext uri="{FF2B5EF4-FFF2-40B4-BE49-F238E27FC236}">
                <a16:creationId xmlns:a16="http://schemas.microsoft.com/office/drawing/2014/main" id="{143F6F0D-5C07-48D3-8AB8-60A46BA11230}"/>
              </a:ext>
            </a:extLst>
          </p:cNvPr>
          <p:cNvSpPr>
            <a:spLocks noChangeArrowheads="1"/>
          </p:cNvSpPr>
          <p:nvPr/>
        </p:nvSpPr>
        <p:spPr bwMode="auto">
          <a:xfrm>
            <a:off x="194822" y="23553342"/>
            <a:ext cx="8194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206375" algn="ctr" defTabSz="914400" eaLnBrk="0" fontAlgn="base" hangingPunct="0">
              <a:spcBef>
                <a:spcPct val="0"/>
              </a:spcBef>
              <a:spcAft>
                <a:spcPct val="0"/>
              </a:spcAft>
            </a:pPr>
            <a:r>
              <a:rPr lang="tr-TR" sz="1400" dirty="0">
                <a:latin typeface="Times New Roman" panose="02020603050405020304" pitchFamily="18" charset="0"/>
                <a:ea typeface="Times New Roman" panose="02020603050405020304" pitchFamily="18" charset="0"/>
                <a:cs typeface="Times New Roman" panose="02020603050405020304" pitchFamily="18" charset="0"/>
              </a:rPr>
              <a:t>Figure</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 2: </a:t>
            </a:r>
            <a:r>
              <a:rPr lang="tr-TR" sz="1400" dirty="0">
                <a:latin typeface="Times New Roman" panose="02020603050405020304" pitchFamily="18" charset="0"/>
                <a:ea typeface="Times New Roman" panose="02020603050405020304" pitchFamily="18" charset="0"/>
                <a:cs typeface="Times New Roman" panose="02020603050405020304" pitchFamily="18" charset="0"/>
              </a:rPr>
              <a:t>VSM</a:t>
            </a:r>
            <a:endParaRPr lang="tr-TR" sz="1400" dirty="0">
              <a:latin typeface="Times New Roman" panose="02020603050405020304" pitchFamily="18" charset="0"/>
              <a:cs typeface="Times New Roman" panose="02020603050405020304" pitchFamily="18" charset="0"/>
            </a:endParaRPr>
          </a:p>
          <a:p>
            <a:pPr lvl="0" indent="206375" algn="ctr" defTabSz="914400" eaLnBrk="0" fontAlgn="base" hangingPunct="0">
              <a:spcBef>
                <a:spcPct val="0"/>
              </a:spcBef>
              <a:spcAft>
                <a:spcPct val="0"/>
              </a:spcAft>
            </a:pPr>
            <a:endParaRPr lang="tr-TR" sz="14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396CAE18-0415-48AF-B2E0-ACEEFD7D4180}"/>
              </a:ext>
            </a:extLst>
          </p:cNvPr>
          <p:cNvSpPr txBox="1"/>
          <p:nvPr/>
        </p:nvSpPr>
        <p:spPr>
          <a:xfrm>
            <a:off x="10170154" y="3981990"/>
            <a:ext cx="9378179" cy="1261884"/>
          </a:xfrm>
          <a:prstGeom prst="rect">
            <a:avLst/>
          </a:prstGeom>
          <a:noFill/>
        </p:spPr>
        <p:txBody>
          <a:bodyPr wrap="square" rtlCol="0">
            <a:spAutoFit/>
          </a:bodyPr>
          <a:lstStyle/>
          <a:p>
            <a:pPr algn="ctr"/>
            <a:endParaRPr lang="tr-TR" sz="22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Precedence Diagramming Method, with its activity-on-node network and additional precedence relationships, offers a simpler and increasingly adaptable system way to deal with demonstrating complex and large tasks. </a:t>
            </a:r>
            <a:endParaRPr lang="en-US" sz="2200" dirty="0">
              <a:latin typeface="Times New Roman" panose="02020603050405020304" pitchFamily="18" charset="0"/>
              <a:cs typeface="Times New Roman" panose="02020603050405020304" pitchFamily="18" charset="0"/>
            </a:endParaRPr>
          </a:p>
        </p:txBody>
      </p:sp>
      <p:sp>
        <p:nvSpPr>
          <p:cNvPr id="40" name="Rectangle 40">
            <a:extLst>
              <a:ext uri="{FF2B5EF4-FFF2-40B4-BE49-F238E27FC236}">
                <a16:creationId xmlns:a16="http://schemas.microsoft.com/office/drawing/2014/main" id="{C25A49CC-733E-4BAE-B453-26898A5C8B3C}"/>
              </a:ext>
            </a:extLst>
          </p:cNvPr>
          <p:cNvSpPr>
            <a:spLocks noChangeArrowheads="1"/>
          </p:cNvSpPr>
          <p:nvPr/>
        </p:nvSpPr>
        <p:spPr bwMode="auto">
          <a:xfrm>
            <a:off x="420066" y="15141672"/>
            <a:ext cx="81946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206375" algn="ctr" defTabSz="914400" eaLnBrk="0" fontAlgn="base" hangingPunct="0">
              <a:spcBef>
                <a:spcPct val="0"/>
              </a:spcBef>
              <a:spcAft>
                <a:spcPct val="0"/>
              </a:spcAft>
            </a:pPr>
            <a:r>
              <a:rPr lang="tr-TR" sz="1400" dirty="0">
                <a:latin typeface="Times New Roman" panose="02020603050405020304" pitchFamily="18" charset="0"/>
                <a:ea typeface="Times New Roman" panose="02020603050405020304" pitchFamily="18" charset="0"/>
                <a:cs typeface="Times New Roman" panose="02020603050405020304" pitchFamily="18" charset="0"/>
              </a:rPr>
              <a:t>Figure</a:t>
            </a:r>
            <a:r>
              <a:rPr kumimoji="0" 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1: </a:t>
            </a:r>
            <a:r>
              <a:rPr lang="tr-TR" sz="1400" dirty="0">
                <a:latin typeface="Times New Roman" panose="02020603050405020304" pitchFamily="18" charset="0"/>
                <a:ea typeface="Times New Roman" panose="02020603050405020304" pitchFamily="18" charset="0"/>
                <a:cs typeface="Times New Roman" panose="02020603050405020304" pitchFamily="18" charset="0"/>
              </a:rPr>
              <a:t>Methodology Steps</a:t>
            </a:r>
            <a:endParaRPr lang="tr-TR" sz="1400" dirty="0">
              <a:latin typeface="Times New Roman" panose="02020603050405020304" pitchFamily="18" charset="0"/>
              <a:cs typeface="Times New Roman" panose="02020603050405020304" pitchFamily="18" charset="0"/>
            </a:endParaRPr>
          </a:p>
        </p:txBody>
      </p:sp>
      <p:graphicFrame>
        <p:nvGraphicFramePr>
          <p:cNvPr id="39" name="Diyagram 1">
            <a:extLst>
              <a:ext uri="{FF2B5EF4-FFF2-40B4-BE49-F238E27FC236}">
                <a16:creationId xmlns:a16="http://schemas.microsoft.com/office/drawing/2014/main" id="{BE9FD21F-2CF1-4839-98B2-FEB4F6646D16}"/>
              </a:ext>
            </a:extLst>
          </p:cNvPr>
          <p:cNvGraphicFramePr/>
          <p:nvPr>
            <p:extLst>
              <p:ext uri="{D42A27DB-BD31-4B8C-83A1-F6EECF244321}">
                <p14:modId xmlns:p14="http://schemas.microsoft.com/office/powerpoint/2010/main" val="4064471163"/>
              </p:ext>
            </p:extLst>
          </p:nvPr>
        </p:nvGraphicFramePr>
        <p:xfrm>
          <a:off x="1402007" y="9926915"/>
          <a:ext cx="7239073" cy="495650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71DD8EBF-509A-4B53-B711-FCFA719CF364}"/>
              </a:ext>
            </a:extLst>
          </p:cNvPr>
          <p:cNvSpPr txBox="1"/>
          <p:nvPr/>
        </p:nvSpPr>
        <p:spPr>
          <a:xfrm>
            <a:off x="219142" y="15777029"/>
            <a:ext cx="9350063" cy="1477328"/>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After precedence Diagram with the inputs on the hand, the mixed integer linear programming model is structured. This linear model lacked freedom and flexibility that was required, it limited possible outcomes so it was not a good fit. Furthermore, to create a more advanced and realistic model and to give more freedom so non-linear constraints can be added, the mixed integer non-linear programming model is presented.</a:t>
            </a:r>
          </a:p>
        </p:txBody>
      </p:sp>
      <p:pic>
        <p:nvPicPr>
          <p:cNvPr id="18" name="Picture 17">
            <a:extLst>
              <a:ext uri="{FF2B5EF4-FFF2-40B4-BE49-F238E27FC236}">
                <a16:creationId xmlns:a16="http://schemas.microsoft.com/office/drawing/2014/main" id="{00B4A8A7-4F02-4CC1-A0B1-CEA4113E397A}"/>
              </a:ext>
            </a:extLst>
          </p:cNvPr>
          <p:cNvPicPr>
            <a:picLocks noChangeAspect="1"/>
          </p:cNvPicPr>
          <p:nvPr/>
        </p:nvPicPr>
        <p:blipFill>
          <a:blip r:embed="rId9"/>
          <a:stretch>
            <a:fillRect/>
          </a:stretch>
        </p:blipFill>
        <p:spPr>
          <a:xfrm>
            <a:off x="420066" y="19922034"/>
            <a:ext cx="8709398" cy="3706422"/>
          </a:xfrm>
          <a:prstGeom prst="rect">
            <a:avLst/>
          </a:prstGeom>
        </p:spPr>
      </p:pic>
      <p:pic>
        <p:nvPicPr>
          <p:cNvPr id="48" name="Resim 9" descr="harita, metin içeren bir resim&#10;&#10;Açıklama otomatik olarak oluşturuldu">
            <a:extLst>
              <a:ext uri="{FF2B5EF4-FFF2-40B4-BE49-F238E27FC236}">
                <a16:creationId xmlns:a16="http://schemas.microsoft.com/office/drawing/2014/main" id="{1BA45647-55B6-4895-90C2-C1B29420F658}"/>
              </a:ext>
            </a:extLst>
          </p:cNvPr>
          <p:cNvPicPr/>
          <p:nvPr/>
        </p:nvPicPr>
        <p:blipFill>
          <a:blip r:embed="rId10">
            <a:extLst>
              <a:ext uri="{28A0092B-C50C-407E-A947-70E740481C1C}">
                <a14:useLocalDpi xmlns:a14="http://schemas.microsoft.com/office/drawing/2010/main" val="0"/>
              </a:ext>
            </a:extLst>
          </a:blip>
          <a:stretch>
            <a:fillRect/>
          </a:stretch>
        </p:blipFill>
        <p:spPr>
          <a:xfrm>
            <a:off x="12086602" y="5367231"/>
            <a:ext cx="5255284" cy="4822810"/>
          </a:xfrm>
          <a:prstGeom prst="rect">
            <a:avLst/>
          </a:prstGeom>
        </p:spPr>
      </p:pic>
      <p:sp>
        <p:nvSpPr>
          <p:cNvPr id="49" name="Rectangle 40">
            <a:extLst>
              <a:ext uri="{FF2B5EF4-FFF2-40B4-BE49-F238E27FC236}">
                <a16:creationId xmlns:a16="http://schemas.microsoft.com/office/drawing/2014/main" id="{A7E267ED-1B7B-4440-9C01-5883CB7283C7}"/>
              </a:ext>
            </a:extLst>
          </p:cNvPr>
          <p:cNvSpPr>
            <a:spLocks noChangeArrowheads="1"/>
          </p:cNvSpPr>
          <p:nvPr/>
        </p:nvSpPr>
        <p:spPr bwMode="auto">
          <a:xfrm>
            <a:off x="10151063" y="10232556"/>
            <a:ext cx="81946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06375" algn="ctr" defTabSz="914400" eaLnBrk="0" fontAlgn="base" hangingPunct="0">
              <a:spcBef>
                <a:spcPct val="0"/>
              </a:spcBef>
              <a:spcAft>
                <a:spcPct val="0"/>
              </a:spcAft>
            </a:pPr>
            <a:r>
              <a:rPr kumimoji="0" 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Figure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3</a:t>
            </a:r>
            <a:r>
              <a:rPr lang="tr-TR"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Precedence Diagram</a:t>
            </a:r>
            <a:endParaRPr lang="tr-TR" sz="14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D138F028-4486-407F-A43D-191CDE59A1D0}"/>
              </a:ext>
            </a:extLst>
          </p:cNvPr>
          <p:cNvSpPr txBox="1"/>
          <p:nvPr/>
        </p:nvSpPr>
        <p:spPr>
          <a:xfrm>
            <a:off x="10300823" y="10625495"/>
            <a:ext cx="9045722" cy="646331"/>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Problem is formulated as a mixed-integer linear programming (MILP) model with the main objective of total completion times as given below:</a:t>
            </a:r>
          </a:p>
        </p:txBody>
      </p:sp>
      <p:pic>
        <p:nvPicPr>
          <p:cNvPr id="25" name="Picture 24">
            <a:extLst>
              <a:ext uri="{FF2B5EF4-FFF2-40B4-BE49-F238E27FC236}">
                <a16:creationId xmlns:a16="http://schemas.microsoft.com/office/drawing/2014/main" id="{AB681EBE-D310-4848-B723-440303B39ADA}"/>
              </a:ext>
            </a:extLst>
          </p:cNvPr>
          <p:cNvPicPr>
            <a:picLocks noChangeAspect="1"/>
          </p:cNvPicPr>
          <p:nvPr/>
        </p:nvPicPr>
        <p:blipFill>
          <a:blip r:embed="rId11"/>
          <a:stretch>
            <a:fillRect/>
          </a:stretch>
        </p:blipFill>
        <p:spPr>
          <a:xfrm>
            <a:off x="11551944" y="11496542"/>
            <a:ext cx="6324600" cy="5483106"/>
          </a:xfrm>
          <a:prstGeom prst="rect">
            <a:avLst/>
          </a:prstGeom>
        </p:spPr>
      </p:pic>
      <p:pic>
        <p:nvPicPr>
          <p:cNvPr id="52" name="Picture 51">
            <a:extLst>
              <a:ext uri="{FF2B5EF4-FFF2-40B4-BE49-F238E27FC236}">
                <a16:creationId xmlns:a16="http://schemas.microsoft.com/office/drawing/2014/main" id="{E10B22A1-76A2-454C-8149-304A9AA67F22}"/>
              </a:ext>
            </a:extLst>
          </p:cNvPr>
          <p:cNvPicPr>
            <a:picLocks noChangeAspect="1"/>
          </p:cNvPicPr>
          <p:nvPr/>
        </p:nvPicPr>
        <p:blipFill>
          <a:blip r:embed="rId12"/>
          <a:stretch>
            <a:fillRect/>
          </a:stretch>
        </p:blipFill>
        <p:spPr>
          <a:xfrm>
            <a:off x="10502824" y="19407958"/>
            <a:ext cx="9077333" cy="3846134"/>
          </a:xfrm>
          <a:prstGeom prst="rect">
            <a:avLst/>
          </a:prstGeom>
        </p:spPr>
      </p:pic>
      <p:sp>
        <p:nvSpPr>
          <p:cNvPr id="53" name="TextBox 52">
            <a:extLst>
              <a:ext uri="{FF2B5EF4-FFF2-40B4-BE49-F238E27FC236}">
                <a16:creationId xmlns:a16="http://schemas.microsoft.com/office/drawing/2014/main" id="{B45ACF9B-A5FF-499E-AB2D-2F3B344C9827}"/>
              </a:ext>
            </a:extLst>
          </p:cNvPr>
          <p:cNvSpPr txBox="1"/>
          <p:nvPr/>
        </p:nvSpPr>
        <p:spPr>
          <a:xfrm>
            <a:off x="445768" y="24076562"/>
            <a:ext cx="9151553" cy="923330"/>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In this study, the value stream mapping method was used to see the whole material and information flow from start to finish and the relationship between the information flow and the material flow</a:t>
            </a:r>
          </a:p>
        </p:txBody>
      </p:sp>
      <p:sp>
        <p:nvSpPr>
          <p:cNvPr id="54" name="TextBox 53">
            <a:extLst>
              <a:ext uri="{FF2B5EF4-FFF2-40B4-BE49-F238E27FC236}">
                <a16:creationId xmlns:a16="http://schemas.microsoft.com/office/drawing/2014/main" id="{7D9F21E2-BD08-4BEA-9D2B-570DD9C47AA8}"/>
              </a:ext>
            </a:extLst>
          </p:cNvPr>
          <p:cNvSpPr txBox="1"/>
          <p:nvPr/>
        </p:nvSpPr>
        <p:spPr>
          <a:xfrm>
            <a:off x="10201979" y="23628456"/>
            <a:ext cx="9314530" cy="1200329"/>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Significant gains have been shown in terms of efficient use of production time and minimization of idle times. In the following studies, this model can be improved by transforming it to a Genetic Algorithm from Meta-Heuristics Approach to use it in even more complicated, wide-ranging industry application.</a:t>
            </a:r>
          </a:p>
        </p:txBody>
      </p:sp>
      <p:sp>
        <p:nvSpPr>
          <p:cNvPr id="57" name="Rectangle 40">
            <a:extLst>
              <a:ext uri="{FF2B5EF4-FFF2-40B4-BE49-F238E27FC236}">
                <a16:creationId xmlns:a16="http://schemas.microsoft.com/office/drawing/2014/main" id="{5D338F5D-5348-46DE-9334-53F7000E3FB2}"/>
              </a:ext>
            </a:extLst>
          </p:cNvPr>
          <p:cNvSpPr>
            <a:spLocks noChangeArrowheads="1"/>
          </p:cNvSpPr>
          <p:nvPr/>
        </p:nvSpPr>
        <p:spPr bwMode="auto">
          <a:xfrm>
            <a:off x="10941959" y="23405813"/>
            <a:ext cx="81946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206375" algn="ctr" defTabSz="914400" eaLnBrk="0" fontAlgn="base" hangingPunct="0">
              <a:spcBef>
                <a:spcPct val="0"/>
              </a:spcBef>
              <a:spcAft>
                <a:spcPct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Table 1 : </a:t>
            </a:r>
            <a:r>
              <a:rPr lang="tr-TR" sz="1400" dirty="0">
                <a:latin typeface="Times New Roman" panose="02020603050405020304" pitchFamily="18" charset="0"/>
                <a:ea typeface="Times New Roman" panose="02020603050405020304" pitchFamily="18" charset="0"/>
                <a:cs typeface="Times New Roman" panose="02020603050405020304" pitchFamily="18" charset="0"/>
              </a:rPr>
              <a:t>Results-1</a:t>
            </a:r>
            <a:endParaRPr lang="tr-TR" sz="1400" dirty="0">
              <a:latin typeface="Times New Roman" panose="02020603050405020304" pitchFamily="18" charset="0"/>
              <a:cs typeface="Times New Roman" panose="02020603050405020304" pitchFamily="18" charset="0"/>
            </a:endParaRPr>
          </a:p>
        </p:txBody>
      </p:sp>
      <p:sp>
        <p:nvSpPr>
          <p:cNvPr id="59" name="Rectangle 40">
            <a:extLst>
              <a:ext uri="{FF2B5EF4-FFF2-40B4-BE49-F238E27FC236}">
                <a16:creationId xmlns:a16="http://schemas.microsoft.com/office/drawing/2014/main" id="{BAE9C46C-361B-43B1-AB85-7501030D51BC}"/>
              </a:ext>
            </a:extLst>
          </p:cNvPr>
          <p:cNvSpPr>
            <a:spLocks noChangeArrowheads="1"/>
          </p:cNvSpPr>
          <p:nvPr/>
        </p:nvSpPr>
        <p:spPr bwMode="auto">
          <a:xfrm>
            <a:off x="10502823" y="16863294"/>
            <a:ext cx="86337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06375" algn="ctr" defTabSz="914400" eaLnBrk="0" fontAlgn="base" hangingPunct="0">
              <a:spcBef>
                <a:spcPct val="0"/>
              </a:spcBef>
              <a:spcAft>
                <a:spcPct val="0"/>
              </a:spcAft>
            </a:pPr>
            <a:r>
              <a:rPr kumimoji="0" 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Figure 4</a:t>
            </a:r>
            <a:r>
              <a:rPr lang="tr-TR"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Mathematical Model</a:t>
            </a:r>
            <a:endParaRPr lang="tr-T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0089617"/>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eması">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824</TotalTime>
  <Words>677</Words>
  <Application>Microsoft Office PowerPoint</Application>
  <PresentationFormat>Özel</PresentationFormat>
  <Paragraphs>58</Paragraphs>
  <Slides>1</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vt:i4>
      </vt:variant>
    </vt:vector>
  </HeadingPairs>
  <TitlesOfParts>
    <vt:vector size="6" baseType="lpstr">
      <vt:lpstr>Arial</vt:lpstr>
      <vt:lpstr>Calibri</vt:lpstr>
      <vt:lpstr>Calibri Light</vt:lpstr>
      <vt:lpstr>Times New Roman</vt:lpstr>
      <vt:lpstr>Office Teması</vt:lpstr>
      <vt:lpstr>PowerPoint Sunusu</vt:lpstr>
    </vt:vector>
  </TitlesOfParts>
  <Company>Dsi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Kurtulus Kaya</dc:creator>
  <cp:lastModifiedBy>MUSTAFA KURTOĞLU</cp:lastModifiedBy>
  <cp:revision>36</cp:revision>
  <dcterms:created xsi:type="dcterms:W3CDTF">2020-01-12T19:54:16Z</dcterms:created>
  <dcterms:modified xsi:type="dcterms:W3CDTF">2020-06-24T11:11:24Z</dcterms:modified>
</cp:coreProperties>
</file>